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8" Type="http://schemas.openxmlformats.org/officeDocument/2006/relationships/slide" Target="slides/slide7.xml"/>
  <Relationship Id="rId13" Type="http://schemas.openxmlformats.org/officeDocument/2006/relationships/slide" Target="slides/slide12.xml"/>
  <Relationship Id="rId18" Type="http://schemas.openxmlformats.org/officeDocument/2006/relationships/slide" Target="slides/slide17.xml"/>
  <Relationship Id="rId26" Type="http://schemas.openxmlformats.org/officeDocument/2006/relationships/presProps" Target="presProps.xml"/>
  <Relationship Id="rId3" Type="http://schemas.openxmlformats.org/officeDocument/2006/relationships/slide" Target="slides/slide2.xml"/>
  <Relationship Id="rId21" Type="http://schemas.openxmlformats.org/officeDocument/2006/relationships/slide" Target="slides/slide20.xml"/>
  <Relationship Id="rId7" Type="http://schemas.openxmlformats.org/officeDocument/2006/relationships/slide" Target="slides/slide6.xml"/>
  <Relationship Id="rId12" Type="http://schemas.openxmlformats.org/officeDocument/2006/relationships/slide" Target="slides/slide11.xml"/>
  <Relationship Id="rId17" Type="http://schemas.openxmlformats.org/officeDocument/2006/relationships/slide" Target="slides/slide16.xml"/>
  <Relationship Id="rId25" Type="http://schemas.openxmlformats.org/officeDocument/2006/relationships/slide" Target="slides/slide24.xml"/>
  <Relationship Id="rId2" Type="http://schemas.openxmlformats.org/officeDocument/2006/relationships/slide" Target="slides/slide1.xml"/>
  <Relationship Id="rId16" Type="http://schemas.openxmlformats.org/officeDocument/2006/relationships/slide" Target="slides/slide15.xml"/>
  <Relationship Id="rId20" Type="http://schemas.openxmlformats.org/officeDocument/2006/relationships/slide" Target="slides/slide19.xml"/>
  <Relationship Id="rId29" Type="http://schemas.openxmlformats.org/officeDocument/2006/relationships/tableStyles" Target="tableStyles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slide" Target="slides/slide10.xml"/>
  <Relationship Id="rId24" Type="http://schemas.openxmlformats.org/officeDocument/2006/relationships/slide" Target="slides/slide23.xml"/>
  <Relationship Id="rId5" Type="http://schemas.openxmlformats.org/officeDocument/2006/relationships/slide" Target="slides/slide4.xml"/>
  <Relationship Id="rId15" Type="http://schemas.openxmlformats.org/officeDocument/2006/relationships/slide" Target="slides/slide14.xml"/>
  <Relationship Id="rId23" Type="http://schemas.openxmlformats.org/officeDocument/2006/relationships/slide" Target="slides/slide22.xml"/>
  <Relationship Id="rId28" Type="http://schemas.openxmlformats.org/officeDocument/2006/relationships/theme" Target="theme/theme1.xml"/>
  <Relationship Id="rId10" Type="http://schemas.openxmlformats.org/officeDocument/2006/relationships/slide" Target="slides/slide9.xml"/>
  <Relationship Id="rId19" Type="http://schemas.openxmlformats.org/officeDocument/2006/relationships/slide" Target="slides/slide18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slide" Target="slides/slide13.xml"/>
  <Relationship Id="rId22" Type="http://schemas.openxmlformats.org/officeDocument/2006/relationships/slide" Target="slides/slide21.xml"/>
  <Relationship Id="rId27" Type="http://schemas.openxmlformats.org/officeDocument/2006/relationships/viewProps" Target="viewProps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7.xml"/>
</Relationships>

</file>

<file path=ppt/slides/_rels/slide2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3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7.xml"/>
</Relationships>

</file>

<file path=ppt/slides/_rels/slide4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6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7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8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9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0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1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2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3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4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5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6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7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8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19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20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21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22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23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Layout" Target="../slideLayouts/slideLayout7.xml"/>
</Relationships>

</file>

<file path=ppt/slides/_rels/slide24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3.jpg"/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648000"/>
            <a:ext cx="9277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192000"/>
            <a:ext cx="10897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251999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Fundamentos teóricos y práctica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0762" y="1174223"/>
            <a:ext cx="79200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 dirty="0" err="1">
                <a:solidFill>
                  <a:srgbClr val="1A1A1A"/>
                </a:solidFill>
                <a:latin typeface="Georgia"/>
              </a:rPr>
              <a:t>Análisis</a:t>
            </a:r>
            <a:r>
              <a:rPr sz="5800" b="1" i="0" dirty="0">
                <a:solidFill>
                  <a:srgbClr val="1A1A1A"/>
                </a:solidFill>
                <a:latin typeface="Georgia"/>
              </a:rPr>
              <a:t>
</a:t>
            </a:r>
            <a:r>
              <a:rPr sz="5800" b="1" i="0" dirty="0" err="1">
                <a:solidFill>
                  <a:srgbClr val="1A1A1A"/>
                </a:solidFill>
                <a:latin typeface="Georgia"/>
              </a:rPr>
              <a:t>Funcional</a:t>
            </a:r>
            <a:r>
              <a:rPr sz="5800" b="1" i="0" dirty="0">
                <a:solidFill>
                  <a:srgbClr val="1A1A1A"/>
                </a:solidFill>
                <a:latin typeface="Georgia"/>
              </a:rPr>
              <a:t>
de la </a:t>
            </a:r>
            <a:r>
              <a:rPr sz="5800" b="1" i="0" dirty="0" err="1">
                <a:solidFill>
                  <a:srgbClr val="1A1A1A"/>
                </a:solidFill>
                <a:latin typeface="Georgia"/>
              </a:rPr>
              <a:t>Conducta</a:t>
            </a:r>
            <a:endParaRPr sz="5800" b="1" i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5822" y="4884012"/>
            <a:ext cx="544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 err="1">
                <a:solidFill>
                  <a:srgbClr val="666666"/>
                </a:solidFill>
                <a:latin typeface="Calibri"/>
              </a:rPr>
              <a:t>Cómo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entender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comportamiento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más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allá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del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diagnóstico</a:t>
            </a:r>
            <a:endParaRPr sz="24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000" y="5868000"/>
            <a:ext cx="792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 dirty="0">
                <a:solidFill>
                  <a:srgbClr val="666666"/>
                </a:solidFill>
                <a:latin typeface="Georgia"/>
              </a:rPr>
              <a:t>Presentación </a:t>
            </a:r>
            <a:r>
              <a:rPr sz="1500" b="1" i="1" dirty="0" err="1">
                <a:solidFill>
                  <a:srgbClr val="666666"/>
                </a:solidFill>
                <a:latin typeface="Georgia"/>
              </a:rPr>
              <a:t>por</a:t>
            </a:r>
            <a:r>
              <a:rPr sz="1500" b="1" i="1" dirty="0">
                <a:solidFill>
                  <a:srgbClr val="666666"/>
                </a:solidFill>
                <a:latin typeface="Georgia"/>
              </a:rPr>
              <a:t> </a:t>
            </a:r>
            <a:r>
              <a:rPr sz="1500" b="0" i="1" dirty="0">
                <a:solidFill>
                  <a:srgbClr val="666666"/>
                </a:solidFill>
                <a:latin typeface="Georgia"/>
              </a:rPr>
              <a:t>Lic. Jean Clemotte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25200" y="72000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Georgia"/>
              </a:rPr>
              <a:t>Marge, 39 años — Asunción, Paraguay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620000"/>
            <a:ext cx="61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1A1A1A"/>
                </a:solidFill>
                <a:latin typeface="Calibri"/>
              </a:rPr>
              <a:t>"Homero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convenció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a Marge de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ir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a consulta. Ella dice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"no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puede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salir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sola".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Hace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2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años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la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asaltaron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Super Stock de Villa Morra.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Desde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entonces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evita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ir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sola a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cualquier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lugar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concurrido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. Le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dijeron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trastorno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de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pánico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 con </a:t>
            </a:r>
            <a:r>
              <a:rPr sz="2400" b="0" i="1" dirty="0" err="1">
                <a:solidFill>
                  <a:srgbClr val="1A1A1A"/>
                </a:solidFill>
                <a:latin typeface="Calibri"/>
              </a:rPr>
              <a:t>agorafobia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0" y="1368000"/>
            <a:ext cx="39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B3A5C"/>
                </a:solidFill>
                <a:latin typeface="Georgia"/>
              </a:rPr>
              <a:t>¿Eso explica por qué
Marge no puede
ir al supermercado?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0" y="3420000"/>
            <a:ext cx="39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3A5C"/>
                </a:solidFill>
                <a:latin typeface="Georgia"/>
              </a:rPr>
              <a:t>No.
Solo le pone nombre.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5562000"/>
            <a:ext cx="1053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 dirty="0">
                <a:solidFill>
                  <a:srgbClr val="666666"/>
                </a:solidFill>
                <a:latin typeface="Calibri"/>
              </a:rPr>
              <a:t>Vamos a </a:t>
            </a:r>
            <a:r>
              <a:rPr sz="3200" b="0" i="1" dirty="0" err="1">
                <a:solidFill>
                  <a:srgbClr val="666666"/>
                </a:solidFill>
                <a:latin typeface="Calibri"/>
              </a:rPr>
              <a:t>aprender</a:t>
            </a:r>
            <a:r>
              <a:rPr sz="3200" b="0" i="1" dirty="0">
                <a:solidFill>
                  <a:srgbClr val="666666"/>
                </a:solidFill>
                <a:latin typeface="Calibri"/>
              </a:rPr>
              <a:t> a responder la </a:t>
            </a:r>
            <a:r>
              <a:rPr sz="3200" b="0" i="1" dirty="0" err="1">
                <a:solidFill>
                  <a:srgbClr val="666666"/>
                </a:solidFill>
                <a:latin typeface="Calibri"/>
              </a:rPr>
              <a:t>pregunta</a:t>
            </a:r>
            <a:r>
              <a:rPr sz="3200" b="0" i="1" dirty="0">
                <a:solidFill>
                  <a:srgbClr val="666666"/>
                </a:solidFill>
                <a:latin typeface="Calibri"/>
              </a:rPr>
              <a:t> real</a:t>
            </a:r>
            <a:r>
              <a:rPr lang="es-PY" sz="3200" b="0" i="1" dirty="0">
                <a:solidFill>
                  <a:srgbClr val="666666"/>
                </a:solidFill>
                <a:latin typeface="Calibri"/>
              </a:rPr>
              <a:t>…</a:t>
            </a:r>
            <a:endParaRPr sz="3200" b="0" i="1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3" name="Picture 12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6749F0-05BC-13A6-60A5-8B1D2080EAC7}"/>
              </a:ext>
            </a:extLst>
          </p:cNvPr>
          <p:cNvCxnSpPr>
            <a:endCxn id="10" idx="0"/>
          </p:cNvCxnSpPr>
          <p:nvPr/>
        </p:nvCxnSpPr>
        <p:spPr>
          <a:xfrm flipH="1">
            <a:off x="9540000" y="2393004"/>
            <a:ext cx="12562" cy="1026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92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Georgia"/>
              </a:rPr>
              <a:t>¿Qué vamos
a ver?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1007999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07999"/>
            <a:ext cx="59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Fundamentos del 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2000" y="1413325"/>
            <a:ext cx="594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Qué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es y para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qué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sirve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666666"/>
                </a:solidFill>
                <a:latin typeface="Calibri"/>
              </a:rPr>
              <a:t>4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supuestos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Funcionalidad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vs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Morfología</a:t>
            </a:r>
            <a:endParaRPr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00000" y="2447999"/>
            <a:ext cx="7020000" cy="19050"/>
          </a:xfrm>
          <a:prstGeom prst="rect">
            <a:avLst/>
          </a:prstGeom>
          <a:solidFill>
            <a:srgbClr val="CC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0000" y="2555999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2000" y="2555999"/>
            <a:ext cx="59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Las leyes del aprendizaje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2000" y="2809009"/>
            <a:ext cx="594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Habituación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r>
              <a:rPr lang="es-PY" b="0" i="0" dirty="0">
                <a:solidFill>
                  <a:srgbClr val="666666"/>
                </a:solidFill>
                <a:latin typeface="Calibri"/>
              </a:rPr>
              <a:t>y sensibilización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Condicionamiento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clásico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Operante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666666"/>
                </a:solidFill>
                <a:latin typeface="Calibri"/>
              </a:rPr>
              <a:t>Ed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666666"/>
                </a:solidFill>
                <a:latin typeface="Calibri"/>
              </a:rPr>
              <a:t>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0000" y="4219743"/>
            <a:ext cx="7020000" cy="19050"/>
          </a:xfrm>
          <a:prstGeom prst="rect">
            <a:avLst/>
          </a:prstGeom>
          <a:solidFill>
            <a:srgbClr val="CC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0000" y="4327743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2000" y="4327743"/>
            <a:ext cx="59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El procedimiento paso a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2000" y="4867743"/>
            <a:ext cx="594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Describir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la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conducta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Antecedentes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y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consecuentes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 </a:t>
            </a:r>
            <a:endParaRPr lang="es-PY" b="0" i="0" dirty="0">
              <a:solidFill>
                <a:srgbClr val="666666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 err="1">
                <a:solidFill>
                  <a:srgbClr val="666666"/>
                </a:solidFill>
                <a:latin typeface="Calibri"/>
              </a:rPr>
              <a:t>Hipótesis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funcional</a:t>
            </a:r>
            <a:endParaRPr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000" y="5911744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Caso guía: Marge Simpson  —  "¿agorafobia"... o algo más?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25200" y="72000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000"/>
            <a:ext cx="12193200" cy="1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88000"/>
            <a:ext cx="121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B3A5C"/>
                </a:solidFill>
                <a:latin typeface="Calibri"/>
              </a:rPr>
              <a:t>Bloque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88000"/>
            <a:ext cx="12193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1A1A"/>
                </a:solidFill>
                <a:latin typeface="Georgia"/>
              </a:rPr>
              <a:t>¿Qué es el
Análisis Funcional?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6" name="Picture 5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A1A1A"/>
                </a:solidFill>
                <a:latin typeface="Georgia"/>
              </a:rPr>
              <a:t>El </a:t>
            </a:r>
            <a:r>
              <a:rPr sz="3200" b="1" i="0" dirty="0" err="1">
                <a:solidFill>
                  <a:srgbClr val="1A1A1A"/>
                </a:solidFill>
                <a:latin typeface="Georgia"/>
              </a:rPr>
              <a:t>diagnóstico</a:t>
            </a:r>
            <a:r>
              <a:rPr sz="3200" b="1" i="0" dirty="0">
                <a:solidFill>
                  <a:srgbClr val="1A1A1A"/>
                </a:solidFill>
                <a:latin typeface="Georgia"/>
              </a:rPr>
              <a:t> describe. El AF </a:t>
            </a:r>
            <a:r>
              <a:rPr sz="3200" b="1" i="0" dirty="0" err="1">
                <a:solidFill>
                  <a:srgbClr val="1A1A1A"/>
                </a:solidFill>
                <a:latin typeface="Georgia"/>
              </a:rPr>
              <a:t>explica</a:t>
            </a:r>
            <a:r>
              <a:rPr sz="3200" b="1" i="0" dirty="0">
                <a:solidFill>
                  <a:srgbClr val="1A1A1A"/>
                </a:solidFill>
                <a:latin typeface="Georgia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250531"/>
              </p:ext>
            </p:extLst>
          </p:nvPr>
        </p:nvGraphicFramePr>
        <p:xfrm>
          <a:off x="648000" y="1620000"/>
          <a:ext cx="105372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000">
                <a:tc>
                  <a:txBody>
                    <a:bodyPr/>
                    <a:lstStyle/>
                    <a:p>
                      <a:pPr algn="ctr"/>
                      <a:r>
                        <a:rPr lang="es-PY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Diagnóstico</a:t>
                      </a:r>
                      <a:endParaRPr sz="2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Análisis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Funcional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"Trastorno de pánico"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¿Qué hace Marge exactamente?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"Depresión mayor"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¿Cuándo ocurre? ¿Cuándo NO ocurre?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000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"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Fobia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social"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¿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Qué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pasa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después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que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lo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hace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000" y="5040000"/>
            <a:ext cx="1053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B3A5C"/>
                </a:solidFill>
                <a:latin typeface="Calibri"/>
              </a:rPr>
              <a:t>El AF busca relaciones entre la conducta y su contexto.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1" name="Picture 10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Georgia"/>
              </a:rPr>
              <a:t>Lo que importa no es cómo se ve,
sino para qué sirve.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980000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  <a:latin typeface="Calibri"/>
              </a:rPr>
              <a:t>Bart quiere evitar ir a la escuela...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2592000"/>
            <a:ext cx="2035440" cy="108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Dice que
le duele
la panza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7440" y="2592000"/>
            <a:ext cx="2035440" cy="108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Esconde
la mochila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6880" y="2592000"/>
            <a:ext cx="2035440" cy="108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Hace una
rabieta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86320" y="2592000"/>
            <a:ext cx="2035440" cy="108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Llora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5760" y="2592000"/>
            <a:ext cx="2035440" cy="108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Pierde
el cuaderno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031999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  <a:latin typeface="Georgia"/>
              </a:rPr>
              <a:t>5 morfologías distintas   →   1 función: escapar de la escuela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2225" y="5022000"/>
            <a:ext cx="44687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666666"/>
                </a:solidFill>
                <a:latin typeface="Calibri"/>
              </a:rPr>
              <a:t>"El AF no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pregunta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cómo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se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ve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la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conducta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sino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qué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función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cumple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en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 ese </a:t>
            </a:r>
            <a:r>
              <a:rPr sz="1700" b="0" i="1" dirty="0" err="1">
                <a:solidFill>
                  <a:srgbClr val="666666"/>
                </a:solidFill>
                <a:latin typeface="Calibri"/>
              </a:rPr>
              <a:t>contexto</a:t>
            </a:r>
            <a:r>
              <a:rPr sz="1700" b="0" i="1" dirty="0">
                <a:solidFill>
                  <a:srgbClr val="666666"/>
                </a:solidFill>
                <a:latin typeface="Calibri"/>
              </a:rPr>
              <a:t>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7" name="Picture 16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Georgia"/>
              </a:rPr>
              <a:t>Antes de empezar: 4 supuestos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620000"/>
            <a:ext cx="5232600" cy="1908000"/>
          </a:xfrm>
          <a:prstGeom prst="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8000" y="1764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2105545"/>
            <a:ext cx="487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A1A1A"/>
                </a:solidFill>
                <a:latin typeface="Calibri"/>
              </a:rPr>
              <a:t>Analiza CUALQUIER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conducta</a:t>
            </a:r>
            <a:endParaRPr sz="24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000" y="2664992"/>
            <a:ext cx="487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 err="1">
                <a:solidFill>
                  <a:srgbClr val="666666"/>
                </a:solidFill>
                <a:latin typeface="Calibri"/>
              </a:rPr>
              <a:t>Incluyendo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pensamientos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,
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emociones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y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conductas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encubiertas</a:t>
            </a:r>
            <a:endParaRPr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68600" y="1620000"/>
            <a:ext cx="5232600" cy="1908000"/>
          </a:xfrm>
          <a:prstGeom prst="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8600" y="1764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8600" y="2105545"/>
            <a:ext cx="487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libri"/>
              </a:rPr>
              <a:t>Las conductas son ADAPTATIVAS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8600" y="2664992"/>
            <a:ext cx="487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666666"/>
                </a:solidFill>
                <a:latin typeface="Calibri"/>
              </a:rPr>
              <a:t>A corto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plazo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. El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problema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es
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que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dejan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de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funcionar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a largo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plazo</a:t>
            </a:r>
            <a:endParaRPr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8000" y="3708000"/>
            <a:ext cx="5232600" cy="1908000"/>
          </a:xfrm>
          <a:prstGeom prst="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000" y="3852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" y="4193545"/>
            <a:ext cx="487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A1A1A"/>
                </a:solidFill>
                <a:latin typeface="Calibri"/>
              </a:rPr>
              <a:t>Las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leyes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son UNIVERSALES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" y="4752992"/>
            <a:ext cx="487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66666"/>
                </a:solidFill>
                <a:latin typeface="Calibri"/>
              </a:rPr>
              <a:t>Aplican igual en Paraguay, España
o cualquier parte del mundo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8600" y="3708000"/>
            <a:ext cx="5232600" cy="1908000"/>
          </a:xfrm>
          <a:prstGeom prst="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8600" y="3852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8600" y="4193545"/>
            <a:ext cx="487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1A1A1A"/>
                </a:solidFill>
                <a:latin typeface="Calibri"/>
              </a:rPr>
              <a:t>Considera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MUCHAS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8600" y="4752992"/>
            <a:ext cx="487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 err="1">
                <a:solidFill>
                  <a:srgbClr val="666666"/>
                </a:solidFill>
                <a:latin typeface="Calibri"/>
              </a:rPr>
              <a:t>Biológicas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psicológicas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,
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históricas</a:t>
            </a:r>
            <a:r>
              <a:rPr b="0" i="0" dirty="0">
                <a:solidFill>
                  <a:srgbClr val="666666"/>
                </a:solidFill>
                <a:latin typeface="Calibri"/>
              </a:rPr>
              <a:t> y </a:t>
            </a:r>
            <a:r>
              <a:rPr b="0" i="0" dirty="0" err="1">
                <a:solidFill>
                  <a:srgbClr val="666666"/>
                </a:solidFill>
                <a:latin typeface="Calibri"/>
              </a:rPr>
              <a:t>contextuales</a:t>
            </a:r>
            <a:endParaRPr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25" name="Picture 24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000"/>
            <a:ext cx="12193200" cy="1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88000"/>
            <a:ext cx="121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B3A5C"/>
                </a:solidFill>
                <a:latin typeface="Calibri"/>
              </a:rPr>
              <a:t>Bloque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88000"/>
            <a:ext cx="12193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1A1A"/>
                </a:solidFill>
                <a:latin typeface="Georgia"/>
              </a:rPr>
              <a:t>Las leyes
del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6" name="Picture 5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Georgia"/>
              </a:rPr>
              <a:t>Habituación y Sensibilización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620000"/>
            <a:ext cx="5160600" cy="5400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HABITUACIÓN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40" y="2399663"/>
            <a:ext cx="5160600" cy="277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A1A1A"/>
                </a:solidFill>
                <a:latin typeface="Calibri"/>
              </a:rPr>
              <a:t>La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respuesta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BAJA con la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exposición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repetida</a:t>
            </a:r>
            <a:endParaRPr sz="24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2000" b="0" i="0" dirty="0">
                <a:solidFill>
                  <a:srgbClr val="666666"/>
                </a:solidFill>
                <a:latin typeface="Calibri"/>
              </a:rPr>
              <a:t>→ El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estímulo</a:t>
            </a:r>
            <a:r>
              <a:rPr sz="2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pierde</a:t>
            </a:r>
            <a:r>
              <a:rPr sz="2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fuerza</a:t>
            </a:r>
            <a:endParaRPr sz="2000" b="0" i="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lang="es-PY" sz="2400" b="1" i="1" dirty="0">
                <a:solidFill>
                  <a:srgbClr val="1A1A1A"/>
                </a:solidFill>
                <a:latin typeface="Calibri"/>
              </a:rPr>
              <a:t>Ejemplo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Dejar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escuchar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ruido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del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aire</a:t>
            </a:r>
            <a:r>
              <a:rPr lang="es-PY"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acondicionado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de la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oficina</a:t>
            </a:r>
            <a:endParaRPr sz="2400" b="0" dirty="0">
              <a:solidFill>
                <a:srgbClr val="1A1A1A"/>
              </a:solidFill>
              <a:latin typeface="Calibri"/>
            </a:endParaRPr>
          </a:p>
          <a:p>
            <a:r>
              <a:rPr lang="es-PY" sz="2400" b="1" i="1" dirty="0">
                <a:solidFill>
                  <a:srgbClr val="1A1A1A"/>
                </a:solidFill>
              </a:rPr>
              <a:t>Ejemplo 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Dejar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notar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olor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tereré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la sala de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espera</a:t>
            </a:r>
            <a:endParaRPr sz="2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600" y="1620000"/>
            <a:ext cx="5160600" cy="540000"/>
          </a:xfrm>
          <a:prstGeom prst="roundRect">
            <a:avLst/>
          </a:prstGeom>
          <a:solidFill>
            <a:srgbClr val="2E76A0"/>
          </a:solidFill>
          <a:ln w="12700">
            <a:solidFill>
              <a:srgbClr val="2E7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SENSIBILIZACIÓN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600" y="2268000"/>
            <a:ext cx="5160600" cy="277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A1A1A"/>
                </a:solidFill>
                <a:latin typeface="Calibri"/>
              </a:rPr>
              <a:t>La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respuesta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SUBE con la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exposición</a:t>
            </a:r>
            <a:r>
              <a:rPr sz="24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A1A1A"/>
                </a:solidFill>
                <a:latin typeface="Calibri"/>
              </a:rPr>
              <a:t>repetida</a:t>
            </a:r>
            <a:endParaRPr sz="24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2000" b="0" i="0" dirty="0">
                <a:solidFill>
                  <a:srgbClr val="666666"/>
                </a:solidFill>
                <a:latin typeface="Calibri"/>
              </a:rPr>
              <a:t>→ El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estímulo</a:t>
            </a:r>
            <a:r>
              <a:rPr sz="2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gana</a:t>
            </a:r>
            <a:r>
              <a:rPr sz="2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666666"/>
                </a:solidFill>
                <a:latin typeface="Calibri"/>
              </a:rPr>
              <a:t>fuerza</a:t>
            </a:r>
            <a:endParaRPr sz="2000" b="0" i="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r>
              <a:rPr lang="es-PY" sz="2400" b="1" i="1" dirty="0">
                <a:solidFill>
                  <a:srgbClr val="1A1A1A"/>
                </a:solidFill>
              </a:rPr>
              <a:t>Ejemplo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Los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golpecitos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hombro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lang="es-PY" sz="240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se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sienten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cada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vez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más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fuertes</a:t>
            </a:r>
            <a:endParaRPr sz="2400" b="0" dirty="0">
              <a:solidFill>
                <a:srgbClr val="1A1A1A"/>
              </a:solidFill>
              <a:latin typeface="Calibri"/>
            </a:endParaRPr>
          </a:p>
          <a:p>
            <a:r>
              <a:rPr lang="es-PY" sz="2400" b="1" i="1" dirty="0">
                <a:solidFill>
                  <a:srgbClr val="1A1A1A"/>
                </a:solidFill>
              </a:rPr>
              <a:t>Ejemplo</a:t>
            </a:r>
            <a:r>
              <a:rPr sz="2400" b="0" i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Un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ruido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parece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cada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vez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más</a:t>
            </a:r>
            <a:r>
              <a:rPr sz="24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alibri"/>
              </a:rPr>
              <a:t>intenso</a:t>
            </a:r>
            <a:endParaRPr sz="2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000" y="5580000"/>
            <a:ext cx="1053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B3A5C"/>
                </a:solidFill>
                <a:latin typeface="Calibri"/>
              </a:rPr>
              <a:t>⚠  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Habituación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≠ "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acostumbrarse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" </a:t>
            </a:r>
            <a:endParaRPr lang="es-PY" sz="2000" b="1" i="0" dirty="0">
              <a:solidFill>
                <a:srgbClr val="1B3A5C"/>
              </a:solidFill>
              <a:latin typeface="Calibri"/>
            </a:endParaRPr>
          </a:p>
          <a:p>
            <a:pPr algn="ctr"/>
            <a:r>
              <a:rPr sz="2000" b="1" i="0" dirty="0">
                <a:solidFill>
                  <a:srgbClr val="1B3A5C"/>
                </a:solidFill>
                <a:latin typeface="Calibri"/>
              </a:rPr>
              <a:t>(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eso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es 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condicionamiento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operante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4" name="Picture 13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>
                <a:solidFill>
                  <a:srgbClr val="1A1A1A"/>
                </a:solidFill>
                <a:latin typeface="Georgia"/>
              </a:rPr>
              <a:t>Condicionamiento</a:t>
            </a:r>
            <a:r>
              <a:rPr sz="2800" b="1" i="0" dirty="0">
                <a:solidFill>
                  <a:srgbClr val="1A1A1A"/>
                </a:solidFill>
                <a:latin typeface="Georgia"/>
              </a:rPr>
              <a:t> Clásico: </a:t>
            </a:r>
            <a:r>
              <a:rPr sz="2800" i="0" dirty="0" err="1">
                <a:solidFill>
                  <a:srgbClr val="1A1A1A"/>
                </a:solidFill>
                <a:latin typeface="Georgia"/>
              </a:rPr>
              <a:t>aprender</a:t>
            </a:r>
            <a:r>
              <a:rPr sz="2800" i="0" dirty="0">
                <a:solidFill>
                  <a:srgbClr val="1A1A1A"/>
                </a:solidFill>
                <a:latin typeface="Georgia"/>
              </a:rPr>
              <a:t> a </a:t>
            </a:r>
            <a:r>
              <a:rPr sz="2800" i="0" dirty="0" err="1">
                <a:solidFill>
                  <a:srgbClr val="1A1A1A"/>
                </a:solidFill>
                <a:latin typeface="Georgia"/>
              </a:rPr>
              <a:t>reaccionar</a:t>
            </a:r>
            <a:endParaRPr sz="2800" i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28774" y="2459115"/>
            <a:ext cx="29930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666666"/>
                </a:solidFill>
                <a:latin typeface="Calibri"/>
              </a:rPr>
              <a:t>EI =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estímulo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biológicamente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
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amenazante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</a:t>
            </a:r>
            <a:br>
              <a:rPr lang="es-PY" sz="2400" b="0" i="1" dirty="0">
                <a:solidFill>
                  <a:srgbClr val="666666"/>
                </a:solidFill>
                <a:latin typeface="Calibri"/>
              </a:rPr>
            </a:br>
            <a:r>
              <a:rPr sz="2400" b="0" i="1" dirty="0">
                <a:solidFill>
                  <a:srgbClr val="666666"/>
                </a:solidFill>
                <a:latin typeface="Calibri"/>
              </a:rPr>
              <a:t>(no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pánico</a:t>
            </a:r>
            <a:r>
              <a:rPr lang="es-PY" sz="2400" i="1" dirty="0">
                <a:solidFill>
                  <a:srgbClr val="666666"/>
                </a:solidFill>
                <a:latin typeface="Calibri"/>
              </a:rPr>
              <a:t>: 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es la RI)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62484"/>
              </p:ext>
            </p:extLst>
          </p:nvPr>
        </p:nvGraphicFramePr>
        <p:xfrm>
          <a:off x="1001071" y="1359000"/>
          <a:ext cx="6888064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6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42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Momento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Estímulo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42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Super Stock (</a:t>
                      </a:r>
                      <a:r>
                        <a:rPr lang="es-PY"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EN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Sin respuesta de ansiedad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428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Asalto en el Super Stock (EI)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Miedo + taquicardia (RI)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42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DURANTE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Super Stock </a:t>
                      </a:r>
                      <a:r>
                        <a:rPr lang="es-PY"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(EN) 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+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Asalto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(EI)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Miedo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taquicardia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(RI)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42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[Una sola vez — experiencia muy intensa]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42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DESPUÉS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Super Stock (EC)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Miedo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taquicardia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(RC)</a:t>
                      </a:r>
                    </a:p>
                  </a:txBody>
                  <a:tcPr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3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↓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generalización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cualquier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supermercado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(EC)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Miedo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(RC)</a:t>
                      </a:r>
                    </a:p>
                  </a:txBody>
                  <a:tcPr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8000" y="5832000"/>
            <a:ext cx="1053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 dirty="0">
                <a:solidFill>
                  <a:srgbClr val="1B3A5C"/>
                </a:solidFill>
                <a:latin typeface="Calibri"/>
              </a:rPr>
              <a:t>Las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conductas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respondientes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ocurren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POR algo — son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reacciones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. No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dependen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de lo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que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haga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el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organismo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1B3A5C"/>
                </a:solidFill>
                <a:latin typeface="Calibri"/>
              </a:rPr>
              <a:t>después</a:t>
            </a:r>
            <a:r>
              <a:rPr sz="1500" b="1" i="1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2" name="Picture 11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Georgia"/>
              </a:rPr>
              <a:t>Triple Contingencia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3240000" cy="25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  <a:latin typeface="Calibri"/>
              </a:rPr>
              <a:t>ANTECEDENTE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(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Señal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
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Homero dice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:
"¿Vamos al
Super Stock?"
(Ed)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000" y="2556000"/>
            <a:ext cx="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3A5C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000" y="1512000"/>
            <a:ext cx="3240000" cy="25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  <a:latin typeface="Calibri"/>
              </a:rPr>
              <a:t>RESPUESTA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(Lo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hace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
"Me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duele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la cabeza,
no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puedo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ir.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"
(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Operante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000" y="2556000"/>
            <a:ext cx="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3A5C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000" y="1512000"/>
            <a:ext cx="3240000" cy="25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  <a:latin typeface="Calibri"/>
              </a:rPr>
              <a:t>CONSECUENTE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(Lo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pasa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
Homero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va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solo</a:t>
            </a:r>
            <a:r>
              <a:rPr lang="es-PY" sz="1600" b="0" dirty="0">
                <a:solidFill>
                  <a:srgbClr val="1A1A1A"/>
                </a:solidFill>
                <a:latin typeface="Calibri"/>
              </a:rPr>
              <a:t> (R+)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.
Marge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casa.
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Desaparece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la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ansiedad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.
(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Reforzador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−)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5298" y="4491225"/>
            <a:ext cx="4945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1B3A5C"/>
                </a:solidFill>
                <a:latin typeface="Calibri"/>
              </a:rPr>
              <a:t>Las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conductas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operantes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ocurren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PARA algo — la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historia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de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consecuencias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determina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si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 se </a:t>
            </a:r>
            <a:r>
              <a:rPr sz="2400" b="0" i="1" dirty="0" err="1">
                <a:solidFill>
                  <a:srgbClr val="1B3A5C"/>
                </a:solidFill>
                <a:latin typeface="Calibri"/>
              </a:rPr>
              <a:t>repiten</a:t>
            </a:r>
            <a:r>
              <a:rPr sz="2400" b="0" i="1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5" name="Picture 14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Georgia"/>
              </a:rPr>
              <a:t>Antecedente vs Estímulo Discriminativo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548000"/>
            <a:ext cx="5196601" cy="468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A1A1A"/>
                </a:solidFill>
                <a:latin typeface="Calibri"/>
              </a:rPr>
              <a:t>ANTECEDENTE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124000"/>
            <a:ext cx="519660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0" dirty="0" err="1">
                <a:solidFill>
                  <a:srgbClr val="1B3A5C"/>
                </a:solidFill>
                <a:latin typeface="Calibri"/>
              </a:rPr>
              <a:t>Concepto</a:t>
            </a:r>
            <a:r>
              <a:rPr sz="280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B3A5C"/>
                </a:solidFill>
                <a:latin typeface="Calibri"/>
              </a:rPr>
              <a:t>DESCRIPTIVO</a:t>
            </a:r>
          </a:p>
          <a:p>
            <a:pPr algn="ctr"/>
            <a:r>
              <a:rPr sz="1000" b="0" i="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400" dirty="0">
                <a:solidFill>
                  <a:srgbClr val="1A1A1A"/>
                </a:solidFill>
                <a:latin typeface="Calibri"/>
              </a:rPr>
              <a:t>Solo indica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una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relación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temporal:</a:t>
            </a:r>
          </a:p>
          <a:p>
            <a:pPr algn="ctr"/>
            <a:r>
              <a:rPr sz="240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estímulo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está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ANTES de la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conducta</a:t>
            </a:r>
            <a:r>
              <a:rPr sz="240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ctr"/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400" b="0" i="0" dirty="0">
                <a:solidFill>
                  <a:srgbClr val="666666"/>
                </a:solidFill>
                <a:latin typeface="Calibri"/>
              </a:rPr>
              <a:t>No dice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si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 hay </a:t>
            </a:r>
            <a:r>
              <a:rPr sz="2400" b="0" i="0" dirty="0" err="1">
                <a:solidFill>
                  <a:srgbClr val="666666"/>
                </a:solidFill>
                <a:latin typeface="Calibri"/>
              </a:rPr>
              <a:t>reforzador</a:t>
            </a:r>
            <a:r>
              <a:rPr sz="2400" b="0" i="0" dirty="0">
                <a:solidFill>
                  <a:srgbClr val="666666"/>
                </a:solidFill>
                <a:latin typeface="Calibri"/>
              </a:rPr>
              <a:t>
disponible o 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2601" y="1548000"/>
            <a:ext cx="5196601" cy="4680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ESTÍMULO DISCRIMINATIVO  (Ed)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2601" y="2124000"/>
            <a:ext cx="5196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dirty="0" err="1">
                <a:solidFill>
                  <a:srgbClr val="1B3A5C"/>
                </a:solidFill>
                <a:latin typeface="Calibri"/>
              </a:rPr>
              <a:t>Concepto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FUNCIONAL</a:t>
            </a:r>
          </a:p>
          <a:p>
            <a:pPr algn="ctr"/>
            <a:r>
              <a:rPr sz="900" b="0" i="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000" dirty="0" err="1">
                <a:solidFill>
                  <a:srgbClr val="1A1A1A"/>
                </a:solidFill>
                <a:latin typeface="Calibri"/>
              </a:rPr>
              <a:t>Señala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si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emito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esta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respuesta</a:t>
            </a:r>
            <a:r>
              <a:rPr sz="2000" dirty="0">
                <a:solidFill>
                  <a:srgbClr val="1A1A1A"/>
                </a:solidFill>
                <a:latin typeface="Calibri"/>
              </a:rPr>
              <a:t>,</a:t>
            </a: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hay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probabilidad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obtener</a:t>
            </a:r>
            <a:r>
              <a:rPr sz="2000" dirty="0">
                <a:solidFill>
                  <a:srgbClr val="1A1A1A"/>
                </a:solidFill>
                <a:latin typeface="Calibri"/>
              </a:rPr>
              <a:t> ese </a:t>
            </a:r>
            <a:r>
              <a:rPr sz="2000" dirty="0" err="1">
                <a:solidFill>
                  <a:srgbClr val="1A1A1A"/>
                </a:solidFill>
                <a:latin typeface="Calibri"/>
              </a:rPr>
              <a:t>reforzador</a:t>
            </a:r>
            <a:r>
              <a:rPr sz="200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r>
              <a:rPr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Ed+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: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señala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que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el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reforzador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está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disponible
"Homero de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buen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humor" →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pedir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permiso</a:t>
            </a:r>
            <a:endParaRPr sz="2000" b="0" i="1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  <a:p>
            <a:pPr algn="ctr"/>
            <a:r>
              <a:rPr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</a:p>
          <a:p>
            <a:r>
              <a:rPr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Ed−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: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señala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castigo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o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extinción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
"Homero de mal humor" →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mejor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no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pedir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9214" y="5307319"/>
            <a:ext cx="5110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>
                <a:solidFill>
                  <a:srgbClr val="1B3A5C"/>
                </a:solidFill>
                <a:latin typeface="Calibri"/>
              </a:rPr>
              <a:t>No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todo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lo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que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ocurre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antes es un Ed.  El Ed se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establece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por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la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historia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 de </a:t>
            </a:r>
            <a:r>
              <a:rPr sz="2000" b="1" i="1" dirty="0" err="1">
                <a:solidFill>
                  <a:srgbClr val="1B3A5C"/>
                </a:solidFill>
                <a:latin typeface="Calibri"/>
              </a:rPr>
              <a:t>aprendizaje</a:t>
            </a:r>
            <a:r>
              <a:rPr sz="2000" b="1" i="1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4" name="Picture 13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555" y="651905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A1A1A"/>
                </a:solidFill>
                <a:latin typeface="Georgia"/>
              </a:rPr>
              <a:t>4 </a:t>
            </a:r>
            <a:r>
              <a:rPr sz="3200" b="1" i="0" dirty="0" err="1">
                <a:solidFill>
                  <a:srgbClr val="1A1A1A"/>
                </a:solidFill>
                <a:latin typeface="Georgia"/>
              </a:rPr>
              <a:t>procedimientos</a:t>
            </a:r>
            <a:r>
              <a:rPr sz="3200" b="1" i="0" dirty="0">
                <a:solidFill>
                  <a:srgbClr val="1A1A1A"/>
                </a:solidFill>
                <a:latin typeface="Georgia"/>
              </a:rPr>
              <a:t> </a:t>
            </a:r>
            <a:r>
              <a:rPr sz="3200" b="1" i="0" dirty="0" err="1">
                <a:solidFill>
                  <a:srgbClr val="1A1A1A"/>
                </a:solidFill>
                <a:latin typeface="Georgia"/>
              </a:rPr>
              <a:t>operantes</a:t>
            </a:r>
            <a:r>
              <a:rPr sz="3200" b="1" i="0" dirty="0">
                <a:solidFill>
                  <a:srgbClr val="1A1A1A"/>
                </a:solidFill>
                <a:latin typeface="Georgia"/>
              </a:rPr>
              <a:t> </a:t>
            </a:r>
            <a:r>
              <a:rPr sz="3200" b="1" i="0" dirty="0" err="1">
                <a:solidFill>
                  <a:srgbClr val="1A1A1A"/>
                </a:solidFill>
                <a:latin typeface="Georgia"/>
              </a:rPr>
              <a:t>básicos</a:t>
            </a:r>
            <a:endParaRPr sz="3200" b="1" i="0" dirty="0">
              <a:solidFill>
                <a:srgbClr val="1A1A1A"/>
              </a:solidFill>
              <a:latin typeface="Georgia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63639"/>
              </p:ext>
            </p:extLst>
          </p:nvPr>
        </p:nvGraphicFramePr>
        <p:xfrm>
          <a:off x="811761" y="1287933"/>
          <a:ext cx="8740801" cy="440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2450">
                <a:tc>
                  <a:txBody>
                    <a:bodyPr/>
                    <a:lstStyle/>
                    <a:p>
                      <a:pPr algn="ctr"/>
                      <a:endParaRPr sz="2800" dirty="0"/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APARECE algo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después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 de la 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DESAPARECE algo después de la 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3250">
                <a:tc>
                  <a:txBody>
                    <a:bodyPr/>
                    <a:lstStyle/>
                    <a:p>
                      <a:pPr algn="ctr"/>
                      <a:r>
                        <a:rPr sz="4000" b="1" dirty="0">
                          <a:solidFill>
                            <a:srgbClr val="1A1A1A"/>
                          </a:solidFill>
                          <a:latin typeface="Calibri"/>
                        </a:rPr>
                        <a:t>La R</a:t>
                      </a:r>
                    </a:p>
                    <a:p>
                      <a:pPr algn="ctr"/>
                      <a:r>
                        <a:rPr sz="4000" b="1" dirty="0">
                          <a:solidFill>
                            <a:srgbClr val="1A1A1A"/>
                          </a:solidFill>
                          <a:latin typeface="Calibri"/>
                        </a:rPr>
                        <a:t>SUBE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Reforzamiento</a:t>
                      </a:r>
                      <a:r>
                        <a:rPr sz="2000" b="1" dirty="0">
                          <a:solidFill>
                            <a:srgbClr val="1A1A1A"/>
                          </a:solidFill>
                          <a:latin typeface="Calibri"/>
                        </a:rPr>
                        <a:t> POSITIVO</a:t>
                      </a:r>
                    </a:p>
                    <a:p>
                      <a:pPr algn="ctr"/>
                      <a:endParaRPr sz="20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Bart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saca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buena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nota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mamá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lo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elogia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sigue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estudiando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Reforzamiento</a:t>
                      </a:r>
                      <a:r>
                        <a:rPr sz="2000" b="1" dirty="0">
                          <a:solidFill>
                            <a:srgbClr val="1A1A1A"/>
                          </a:solidFill>
                          <a:latin typeface="Calibri"/>
                        </a:rPr>
                        <a:t> NEGATIVO</a:t>
                      </a:r>
                    </a:p>
                    <a:p>
                      <a:pPr algn="ctr"/>
                      <a:endParaRPr sz="20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Marge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evita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Super Stock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desaparece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miedo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sigue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evitando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3250">
                <a:tc>
                  <a:txBody>
                    <a:bodyPr/>
                    <a:lstStyle/>
                    <a:p>
                      <a:pPr algn="ctr"/>
                      <a:r>
                        <a:rPr sz="4000" b="1" dirty="0">
                          <a:solidFill>
                            <a:srgbClr val="1A1A1A"/>
                          </a:solidFill>
                          <a:latin typeface="Calibri"/>
                        </a:rPr>
                        <a:t>La R</a:t>
                      </a:r>
                    </a:p>
                    <a:p>
                      <a:pPr algn="ctr"/>
                      <a:r>
                        <a:rPr sz="4000" b="1" dirty="0">
                          <a:solidFill>
                            <a:srgbClr val="1A1A1A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Castigo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POSITIVO</a:t>
                      </a:r>
                    </a:p>
                    <a:p>
                      <a:pPr algn="ctr"/>
                      <a:endParaRPr sz="20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Bart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hace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una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broma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</a:t>
                      </a: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Homero le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grita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deja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hacerlas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Castigo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Calibri"/>
                        </a:rPr>
                        <a:t> NEGATIVO</a:t>
                      </a:r>
                    </a:p>
                    <a:p>
                      <a:pPr algn="ctr"/>
                      <a:endParaRPr sz="20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Bart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llega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tarde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</a:t>
                      </a: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le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quitan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skate →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llega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horario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62782" y="2558121"/>
            <a:ext cx="23864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B3A5C"/>
                </a:solidFill>
                <a:latin typeface="Calibri"/>
              </a:rPr>
              <a:t>⚠  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Positivo</a:t>
            </a:r>
            <a:r>
              <a:rPr lang="es-PY" sz="2000" b="1" dirty="0">
                <a:solidFill>
                  <a:srgbClr val="1B3A5C"/>
                </a:solidFill>
                <a:latin typeface="Calibri"/>
              </a:rPr>
              <a:t>/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Negativo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</a:t>
            </a:r>
            <a:endParaRPr lang="es-PY" sz="2000" b="1" i="0" dirty="0">
              <a:solidFill>
                <a:srgbClr val="1B3A5C"/>
              </a:solidFill>
              <a:latin typeface="Calibri"/>
            </a:endParaRPr>
          </a:p>
          <a:p>
            <a:pPr algn="ctr"/>
            <a:r>
              <a:rPr sz="2000" b="1" i="0" dirty="0">
                <a:solidFill>
                  <a:srgbClr val="1B3A5C"/>
                </a:solidFill>
                <a:latin typeface="Calibri"/>
              </a:rPr>
              <a:t>= </a:t>
            </a:r>
            <a:endParaRPr lang="es-PY" sz="2000" b="1" i="0" dirty="0">
              <a:solidFill>
                <a:srgbClr val="1B3A5C"/>
              </a:solidFill>
              <a:latin typeface="Calibri"/>
            </a:endParaRPr>
          </a:p>
          <a:p>
            <a:pPr algn="ctr"/>
            <a:r>
              <a:rPr lang="es-PY" sz="2000" b="1" i="0" dirty="0">
                <a:solidFill>
                  <a:srgbClr val="1B3A5C"/>
                </a:solidFill>
                <a:latin typeface="Calibri"/>
              </a:rPr>
              <a:t>A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parece</a:t>
            </a:r>
            <a:r>
              <a:rPr lang="es-PY" sz="2000" b="1" dirty="0">
                <a:solidFill>
                  <a:srgbClr val="1B3A5C"/>
                </a:solidFill>
                <a:latin typeface="Calibri"/>
              </a:rPr>
              <a:t>/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desaparece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</a:t>
            </a:r>
            <a:endParaRPr lang="es-PY" sz="2000" b="1" i="0" dirty="0">
              <a:solidFill>
                <a:srgbClr val="1B3A5C"/>
              </a:solidFill>
              <a:latin typeface="Calibri"/>
            </a:endParaRPr>
          </a:p>
          <a:p>
            <a:pPr algn="ctr"/>
            <a:endParaRPr lang="es-PY" sz="2000" b="1" dirty="0">
              <a:solidFill>
                <a:srgbClr val="1B3A5C"/>
              </a:solidFill>
              <a:latin typeface="Calibri"/>
            </a:endParaRPr>
          </a:p>
          <a:p>
            <a:pPr algn="ctr"/>
            <a:r>
              <a:rPr sz="2000" b="1" i="0" dirty="0">
                <a:solidFill>
                  <a:srgbClr val="1B3A5C"/>
                </a:solidFill>
                <a:latin typeface="Calibri"/>
              </a:rPr>
              <a:t>No 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significa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 bueno</a:t>
            </a:r>
            <a:r>
              <a:rPr lang="es-PY" sz="2000" b="1" i="0" dirty="0">
                <a:solidFill>
                  <a:srgbClr val="1B3A5C"/>
                </a:solidFill>
                <a:latin typeface="Calibri"/>
              </a:rPr>
              <a:t>/</a:t>
            </a:r>
            <a:r>
              <a:rPr sz="2000" b="1" i="0" dirty="0" err="1">
                <a:solidFill>
                  <a:srgbClr val="1B3A5C"/>
                </a:solidFill>
                <a:latin typeface="Calibri"/>
              </a:rPr>
              <a:t>malo</a:t>
            </a:r>
            <a:r>
              <a:rPr sz="2000" b="1" i="0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1" name="Picture 10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Georgia"/>
              </a:rPr>
              <a:t>Variables que alteran la contingencia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548000"/>
            <a:ext cx="5196601" cy="5400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DISPOSICIONALES
(condiciones estables)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91" y="2196000"/>
            <a:ext cx="58894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sz="2400" b="1" dirty="0" err="1">
                <a:solidFill>
                  <a:srgbClr val="1A1A1A"/>
                </a:solidFill>
                <a:latin typeface="Calibri"/>
              </a:rPr>
              <a:t>Biológicas</a:t>
            </a:r>
            <a:r>
              <a:rPr sz="2400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edad</a:t>
            </a:r>
            <a:r>
              <a:rPr sz="2400" dirty="0">
                <a:solidFill>
                  <a:srgbClr val="1A1A1A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enfermedades</a:t>
            </a:r>
            <a:r>
              <a:rPr sz="2400" dirty="0">
                <a:solidFill>
                  <a:srgbClr val="1A1A1A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medicación</a:t>
            </a:r>
            <a:endParaRPr sz="2400" dirty="0">
              <a:solidFill>
                <a:srgbClr val="1A1A1A"/>
              </a:solidFill>
              <a:latin typeface="Calibri"/>
            </a:endParaRPr>
          </a:p>
          <a:p>
            <a:pPr marL="457200" indent="-457200" algn="l">
              <a:buFont typeface="+mj-lt"/>
              <a:buAutoNum type="arabicPeriod"/>
            </a:pPr>
            <a:r>
              <a:rPr sz="2400" b="1" dirty="0">
                <a:solidFill>
                  <a:srgbClr val="1A1A1A"/>
                </a:solidFill>
                <a:latin typeface="Calibri"/>
              </a:rPr>
              <a:t>Historia de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aprendizaje</a:t>
            </a:r>
            <a:endParaRPr sz="2400" b="1" dirty="0">
              <a:solidFill>
                <a:srgbClr val="1A1A1A"/>
              </a:solidFill>
              <a:latin typeface="Calibri"/>
            </a:endParaRPr>
          </a:p>
          <a:p>
            <a:pPr marL="457200" indent="-457200" algn="l">
              <a:buFont typeface="+mj-lt"/>
              <a:buAutoNum type="arabicPeriod"/>
            </a:pPr>
            <a:r>
              <a:rPr sz="2400" b="1" dirty="0" err="1">
                <a:solidFill>
                  <a:srgbClr val="1A1A1A"/>
                </a:solidFill>
                <a:latin typeface="Calibri"/>
              </a:rPr>
              <a:t>Repertorio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conductual</a:t>
            </a:r>
            <a:r>
              <a:rPr lang="es-PY" sz="2400" b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habilidades</a:t>
            </a:r>
            <a:r>
              <a:rPr sz="2400" dirty="0">
                <a:solidFill>
                  <a:srgbClr val="1A1A1A"/>
                </a:solidFill>
                <a:latin typeface="Calibri"/>
              </a:rPr>
              <a:t>/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déficits</a:t>
            </a:r>
            <a:endParaRPr sz="2400" dirty="0">
              <a:solidFill>
                <a:srgbClr val="1A1A1A"/>
              </a:solidFill>
              <a:latin typeface="Calibri"/>
            </a:endParaRPr>
          </a:p>
          <a:p>
            <a:pPr marL="457200" indent="-457200" algn="l">
              <a:buFont typeface="+mj-lt"/>
              <a:buAutoNum type="arabicPeriod"/>
            </a:pPr>
            <a:r>
              <a:rPr sz="2400" b="1" dirty="0">
                <a:solidFill>
                  <a:srgbClr val="1A1A1A"/>
                </a:solidFill>
                <a:latin typeface="Calibri"/>
              </a:rPr>
              <a:t>Reglas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internas</a:t>
            </a:r>
            <a:r>
              <a:rPr lang="es-PY" sz="2400" b="1" dirty="0">
                <a:solidFill>
                  <a:srgbClr val="1A1A1A"/>
                </a:solidFill>
                <a:latin typeface="Calibri"/>
              </a:rPr>
              <a:t>: </a:t>
            </a:r>
            <a:r>
              <a:rPr sz="2400" dirty="0">
                <a:solidFill>
                  <a:srgbClr val="1A1A1A"/>
                </a:solidFill>
                <a:latin typeface="Calibri"/>
              </a:rPr>
              <a:t>"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si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hago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X,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pasa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Y"</a:t>
            </a:r>
          </a:p>
          <a:p>
            <a:pPr marL="457200" indent="-457200" algn="l">
              <a:buFont typeface="+mj-lt"/>
              <a:buAutoNum type="arabicPeriod"/>
            </a:pPr>
            <a:r>
              <a:rPr sz="2400" b="1" dirty="0" err="1">
                <a:solidFill>
                  <a:srgbClr val="1A1A1A"/>
                </a:solidFill>
                <a:latin typeface="Calibri"/>
              </a:rPr>
              <a:t>Condiciones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del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entorno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físico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y social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2601" y="1548000"/>
            <a:ext cx="5196601" cy="540000"/>
          </a:xfrm>
          <a:prstGeom prst="roundRect">
            <a:avLst/>
          </a:prstGeom>
          <a:solidFill>
            <a:srgbClr val="2E76A0"/>
          </a:solidFill>
          <a:ln w="12700">
            <a:solidFill>
              <a:srgbClr val="2E7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MOTIVADORAS
(cambian en el momento)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2601" y="2196000"/>
            <a:ext cx="51966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sz="2400" dirty="0" err="1">
                <a:solidFill>
                  <a:srgbClr val="1A1A1A"/>
                </a:solidFill>
                <a:latin typeface="Calibri"/>
              </a:rPr>
              <a:t>Privación</a:t>
            </a:r>
            <a:r>
              <a:rPr sz="2400" dirty="0">
                <a:solidFill>
                  <a:srgbClr val="1A1A1A"/>
                </a:solidFill>
                <a:latin typeface="Calibri"/>
              </a:rPr>
              <a:t>/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saciación</a:t>
            </a:r>
            <a:endParaRPr sz="2400" dirty="0">
              <a:solidFill>
                <a:srgbClr val="1A1A1A"/>
              </a:solidFill>
              <a:latin typeface="Calibri"/>
            </a:endParaRPr>
          </a:p>
          <a:p>
            <a:pPr marL="457200" indent="-457200" algn="l">
              <a:buFont typeface="+mj-lt"/>
              <a:buAutoNum type="arabicPeriod"/>
            </a:pPr>
            <a:r>
              <a:rPr sz="2400" dirty="0">
                <a:solidFill>
                  <a:srgbClr val="1A1A1A"/>
                </a:solidFill>
                <a:latin typeface="Calibri"/>
              </a:rPr>
              <a:t>Estado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emocional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actual</a:t>
            </a:r>
          </a:p>
          <a:p>
            <a:pPr marL="457200" indent="-457200" algn="l">
              <a:buFont typeface="+mj-lt"/>
              <a:buAutoNum type="arabicPeriod"/>
            </a:pPr>
            <a:r>
              <a:rPr sz="2400" dirty="0" err="1">
                <a:solidFill>
                  <a:srgbClr val="1A1A1A"/>
                </a:solidFill>
                <a:latin typeface="Calibri"/>
              </a:rPr>
              <a:t>Anticipaciones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verbales</a:t>
            </a:r>
            <a:endParaRPr sz="2400" dirty="0">
              <a:solidFill>
                <a:srgbClr val="1A1A1A"/>
              </a:solidFill>
              <a:latin typeface="Calibri"/>
            </a:endParaRPr>
          </a:p>
          <a:p>
            <a:pPr marL="457200" indent="-457200" algn="l">
              <a:buFont typeface="+mj-lt"/>
              <a:buAutoNum type="arabicPeriod"/>
            </a:pPr>
            <a:r>
              <a:rPr sz="2400" dirty="0" err="1">
                <a:solidFill>
                  <a:srgbClr val="1A1A1A"/>
                </a:solidFill>
                <a:latin typeface="Calibri"/>
              </a:rPr>
              <a:t>Cambios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contexto</a:t>
            </a:r>
            <a:r>
              <a:rPr sz="2400" dirty="0">
                <a:solidFill>
                  <a:srgbClr val="1A1A1A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1A1A1A"/>
                </a:solidFill>
                <a:latin typeface="Calibri"/>
              </a:rPr>
              <a:t>inmediato</a:t>
            </a:r>
            <a:endParaRPr sz="24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33962" y="5342051"/>
            <a:ext cx="402127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1B3A5C"/>
                </a:solidFill>
                <a:latin typeface="Calibri"/>
              </a:rPr>
              <a:t>No </a:t>
            </a:r>
            <a:r>
              <a:rPr sz="1700" b="1" dirty="0" err="1">
                <a:solidFill>
                  <a:srgbClr val="1B3A5C"/>
                </a:solidFill>
                <a:latin typeface="Calibri"/>
              </a:rPr>
              <a:t>causan</a:t>
            </a:r>
            <a:r>
              <a:rPr sz="1700" dirty="0">
                <a:solidFill>
                  <a:srgbClr val="1B3A5C"/>
                </a:solidFill>
                <a:latin typeface="Calibri"/>
              </a:rPr>
              <a:t> la </a:t>
            </a:r>
            <a:r>
              <a:rPr sz="1700" dirty="0" err="1">
                <a:solidFill>
                  <a:srgbClr val="1B3A5C"/>
                </a:solidFill>
                <a:latin typeface="Calibri"/>
              </a:rPr>
              <a:t>conducta</a:t>
            </a:r>
            <a:r>
              <a:rPr sz="1700" dirty="0">
                <a:solidFill>
                  <a:srgbClr val="1B3A5C"/>
                </a:solidFill>
                <a:latin typeface="Calibri"/>
              </a:rPr>
              <a:t>. </a:t>
            </a:r>
            <a:r>
              <a:rPr sz="1700" b="1" dirty="0" err="1">
                <a:solidFill>
                  <a:srgbClr val="1B3A5C"/>
                </a:solidFill>
                <a:latin typeface="Calibri"/>
              </a:rPr>
              <a:t>Modifican</a:t>
            </a:r>
            <a:r>
              <a:rPr sz="1700" dirty="0">
                <a:solidFill>
                  <a:srgbClr val="1B3A5C"/>
                </a:solidFill>
                <a:latin typeface="Calibri"/>
              </a:rPr>
              <a:t> la PROBABILIDAD de </a:t>
            </a:r>
            <a:r>
              <a:rPr sz="1700" dirty="0" err="1">
                <a:solidFill>
                  <a:srgbClr val="1B3A5C"/>
                </a:solidFill>
                <a:latin typeface="Calibri"/>
              </a:rPr>
              <a:t>que</a:t>
            </a:r>
            <a:r>
              <a:rPr sz="1700" dirty="0">
                <a:solidFill>
                  <a:srgbClr val="1B3A5C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3A5C"/>
                </a:solidFill>
                <a:latin typeface="Calibri"/>
              </a:rPr>
              <a:t>ocurra</a:t>
            </a:r>
            <a:r>
              <a:rPr sz="1700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4" name="Picture 13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70943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 err="1">
                <a:solidFill>
                  <a:srgbClr val="1A1A1A"/>
                </a:solidFill>
                <a:latin typeface="Georgia"/>
              </a:rPr>
              <a:t>Ejemplos</a:t>
            </a:r>
            <a:r>
              <a:rPr sz="3000" b="1" i="0" dirty="0">
                <a:solidFill>
                  <a:srgbClr val="1A1A1A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Georgia"/>
              </a:rPr>
              <a:t>contextualizados</a:t>
            </a:r>
            <a:r>
              <a:rPr sz="3000" b="1" i="0" dirty="0">
                <a:solidFill>
                  <a:srgbClr val="1A1A1A"/>
                </a:solidFill>
                <a:latin typeface="Georgia"/>
              </a:rPr>
              <a:t> (Paraguay)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52583"/>
              </p:ext>
            </p:extLst>
          </p:nvPr>
        </p:nvGraphicFramePr>
        <p:xfrm>
          <a:off x="433992" y="1528950"/>
          <a:ext cx="11433753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8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Efecto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sobre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la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conducta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de Marge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Asalto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previo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Super Stock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Disposicional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(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historia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aprendizaje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El Super Stock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adquirió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función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EC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aversivo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Aumenta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probabilidad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evitación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Regla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: "Si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salgo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sola, me van 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asaltar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nuevo"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Disposicional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(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regla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conducta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Amplifica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valor del Ed.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Aumenta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taquicardia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ante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cualquier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supermercado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Estrés</a:t>
                      </a:r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 del </a:t>
                      </a:r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hogar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: Homero</a:t>
                      </a:r>
                      <a:r>
                        <a:rPr lang="es-PY"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es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despistado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, Maggie no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duerme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bien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Motiva</a:t>
                      </a:r>
                      <a:r>
                        <a:rPr lang="es-PY"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cional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(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estado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emocional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Aumenta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activación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general.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Cualquier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estímulo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produce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más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ansiedad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Homero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siempre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va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solo al Super Stock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si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Marge no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puede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ir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1600" b="1" dirty="0">
                          <a:solidFill>
                            <a:srgbClr val="1A1A1A"/>
                          </a:solidFill>
                          <a:latin typeface="+mn-lt"/>
                        </a:rPr>
                        <a:t>Motivacional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(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operación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abolición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Reduce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presión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por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salir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Refuerza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</a:t>
                      </a:r>
                    </a:p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conducta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evitación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por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partida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doble.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0" name="Picture 9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000"/>
            <a:ext cx="12193200" cy="1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88000"/>
            <a:ext cx="121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B3A5C"/>
                </a:solidFill>
                <a:latin typeface="Calibri"/>
              </a:rPr>
              <a:t>Bloque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88000"/>
            <a:ext cx="12193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1A1A"/>
                </a:solidFill>
                <a:latin typeface="Georgia"/>
              </a:rPr>
              <a:t>El procedimiento
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6" name="Picture 5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Georgia"/>
              </a:rPr>
              <a:t>Paso 1 — ¿Qué hace exactamente?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620000"/>
            <a:ext cx="3452400" cy="16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dirty="0">
                <a:solidFill>
                  <a:srgbClr val="1A1A1A"/>
                </a:solidFill>
                <a:latin typeface="Calibri"/>
              </a:rPr>
              <a:t>01
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Frecuencia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
¿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Cuántas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veces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ocurre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400" y="1620000"/>
            <a:ext cx="3452400" cy="16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dirty="0">
                <a:solidFill>
                  <a:srgbClr val="1A1A1A"/>
                </a:solidFill>
                <a:latin typeface="Calibri"/>
              </a:rPr>
              <a:t>02
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Duración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
¿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Cuánto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tiempo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dura?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2800" y="1620000"/>
            <a:ext cx="3452400" cy="16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dirty="0">
                <a:solidFill>
                  <a:srgbClr val="1A1A1A"/>
                </a:solidFill>
                <a:latin typeface="Calibri"/>
              </a:rPr>
              <a:t>03
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Localización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
¿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Cuándo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Dónde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?
¿Con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quién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600000"/>
            <a:ext cx="1053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CC3333"/>
                </a:solidFill>
                <a:latin typeface="Calibri"/>
              </a:rPr>
              <a:t>❌  "Marge </a:t>
            </a:r>
            <a:r>
              <a:rPr sz="2400" b="1" i="0" dirty="0" err="1">
                <a:solidFill>
                  <a:srgbClr val="CC3333"/>
                </a:solidFill>
                <a:latin typeface="Calibri"/>
              </a:rPr>
              <a:t>tiene</a:t>
            </a:r>
            <a:r>
              <a:rPr sz="2400" b="1" i="0" dirty="0">
                <a:solidFill>
                  <a:srgbClr val="CC3333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CC3333"/>
                </a:solidFill>
                <a:latin typeface="Calibri"/>
              </a:rPr>
              <a:t>ansiedad</a:t>
            </a:r>
            <a:r>
              <a:rPr sz="2400" b="1" i="0" dirty="0">
                <a:solidFill>
                  <a:srgbClr val="CC3333"/>
                </a:solidFill>
                <a:latin typeface="Calibri"/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4515" y="4410000"/>
            <a:ext cx="82041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227744"/>
                </a:solidFill>
                <a:latin typeface="Calibri"/>
              </a:rPr>
              <a:t>✓</a:t>
            </a:r>
            <a:r>
              <a:rPr lang="es-PY" sz="2400" b="0" i="0" dirty="0">
                <a:solidFill>
                  <a:srgbClr val="227744"/>
                </a:solidFill>
                <a:latin typeface="Calibri"/>
              </a:rPr>
              <a:t>  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"Marge </a:t>
            </a:r>
            <a:r>
              <a:rPr sz="2400" b="1" i="0" dirty="0" err="1">
                <a:latin typeface="Calibri"/>
              </a:rPr>
              <a:t>evita</a:t>
            </a:r>
            <a:r>
              <a:rPr lang="es-PY"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supermercados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,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shoppings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y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reuniones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sociales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desde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hace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2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años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.
  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Ocurre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en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cualquier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lugar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concurrido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donde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no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esté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Homero </a:t>
            </a:r>
            <a:r>
              <a:rPr sz="2400" b="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presente</a:t>
            </a:r>
            <a:r>
              <a:rPr sz="2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4" name="Picture 13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A1A1A"/>
                </a:solidFill>
                <a:latin typeface="Georgia"/>
              </a:rPr>
              <a:t>Paso 2 — ¿</a:t>
            </a:r>
            <a:r>
              <a:rPr sz="3000" b="1" i="0" dirty="0" err="1">
                <a:solidFill>
                  <a:srgbClr val="1A1A1A"/>
                </a:solidFill>
                <a:latin typeface="Georgia"/>
              </a:rPr>
              <a:t>Qué</a:t>
            </a:r>
            <a:r>
              <a:rPr sz="3000" b="1" i="0" dirty="0">
                <a:solidFill>
                  <a:srgbClr val="1A1A1A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Georgia"/>
              </a:rPr>
              <a:t>pasa</a:t>
            </a:r>
            <a:r>
              <a:rPr sz="3000" b="1" i="0" dirty="0">
                <a:solidFill>
                  <a:srgbClr val="1A1A1A"/>
                </a:solidFill>
                <a:latin typeface="Georgia"/>
              </a:rPr>
              <a:t> antes y </a:t>
            </a:r>
            <a:r>
              <a:rPr sz="3000" b="1" i="0" dirty="0" err="1">
                <a:solidFill>
                  <a:srgbClr val="1A1A1A"/>
                </a:solidFill>
                <a:latin typeface="Georgia"/>
              </a:rPr>
              <a:t>después</a:t>
            </a:r>
            <a:r>
              <a:rPr sz="3000" b="1" i="0" dirty="0">
                <a:solidFill>
                  <a:srgbClr val="1A1A1A"/>
                </a:solidFill>
                <a:latin typeface="Georgia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548000"/>
            <a:ext cx="3420000" cy="25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  <a:latin typeface="Calibri"/>
              </a:rPr>
              <a:t>ANTES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(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Antecedentes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Dónde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está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¿Con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quién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piensa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siente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físicamente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4000" y="2556001"/>
            <a:ext cx="4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3A5C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0" y="2358000"/>
            <a:ext cx="2340000" cy="9000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CONDUCTA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4000" y="2556001"/>
            <a:ext cx="4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3A5C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2000" y="1548000"/>
            <a:ext cx="3420000" cy="2520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  <a:latin typeface="Calibri"/>
              </a:rPr>
              <a:t>DESPUÉS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(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Consecuentes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)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obtiene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evita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Cómo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se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siente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
¿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hacen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
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otros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6013" y="4696458"/>
            <a:ext cx="5567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B3A5C"/>
                </a:solidFill>
                <a:latin typeface="Calibri"/>
              </a:rPr>
              <a:t>⚠  </a:t>
            </a:r>
            <a:endParaRPr lang="es-PY" sz="2400" b="1" i="0" dirty="0">
              <a:solidFill>
                <a:srgbClr val="1B3A5C"/>
              </a:solidFill>
              <a:latin typeface="Calibri"/>
            </a:endParaRPr>
          </a:p>
          <a:p>
            <a:pPr algn="ctr"/>
            <a:r>
              <a:rPr sz="2400" b="1" i="0" dirty="0">
                <a:solidFill>
                  <a:srgbClr val="1B3A5C"/>
                </a:solidFill>
                <a:latin typeface="Calibri"/>
              </a:rPr>
              <a:t>No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todo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lo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que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ocurre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antes/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después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tiene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relación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funcional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con la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conducta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5" name="Picture 14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Georgia"/>
              </a:rPr>
              <a:t>¿La conducta ocurre POR algo o PARA algo?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474898"/>
              </p:ext>
            </p:extLst>
          </p:nvPr>
        </p:nvGraphicFramePr>
        <p:xfrm>
          <a:off x="648000" y="1548000"/>
          <a:ext cx="105372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E-R  (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Respondiente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 /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Clásica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E-R-C  (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Operante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Es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una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REACCIÓN ante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el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ambiente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Es una ACCIÓN sobre el ambiente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No depende de las consecuencias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Las consecuencias la moldean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Es automática — no se puede evitar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El sujeto puede modificarla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Ej: taquicardia ante el Super Stock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Ej: decir "no puedo ir" y quedarse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Ocurre POR el estímulo antecedente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Ocurre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PARA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obtener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algo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000" y="5361057"/>
            <a:ext cx="1053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B3A5C"/>
                </a:solidFill>
                <a:latin typeface="Calibri"/>
              </a:rPr>
              <a:t>En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clínica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, </a:t>
            </a:r>
            <a:r>
              <a:rPr sz="2000" b="1" dirty="0" err="1">
                <a:solidFill>
                  <a:srgbClr val="1B3A5C"/>
                </a:solidFill>
                <a:latin typeface="Calibri"/>
              </a:rPr>
              <a:t>casi</a:t>
            </a:r>
            <a:r>
              <a:rPr sz="20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B3A5C"/>
                </a:solidFill>
                <a:latin typeface="Calibri"/>
              </a:rPr>
              <a:t>siempre</a:t>
            </a:r>
            <a:r>
              <a:rPr sz="20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B3A5C"/>
                </a:solidFill>
                <a:latin typeface="Calibri"/>
              </a:rPr>
              <a:t>aparecen</a:t>
            </a:r>
            <a:r>
              <a:rPr sz="2000" b="1" dirty="0">
                <a:solidFill>
                  <a:srgbClr val="1B3A5C"/>
                </a:solidFill>
                <a:latin typeface="Calibri"/>
              </a:rPr>
              <a:t> las dos juntas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.
Marge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tiene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taquicardia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 (E-R) y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evita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B3A5C"/>
                </a:solidFill>
                <a:latin typeface="Calibri"/>
              </a:rPr>
              <a:t>supermercado</a:t>
            </a:r>
            <a:r>
              <a:rPr sz="2000" b="0" dirty="0">
                <a:solidFill>
                  <a:srgbClr val="1B3A5C"/>
                </a:solidFill>
                <a:latin typeface="Calibri"/>
              </a:rPr>
              <a:t> (E-R-C).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1" name="Picture 10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Georgia"/>
              </a:rPr>
              <a:t>Paso 3 — ¿Qué facilita o dificulta que ocurra?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548000"/>
            <a:ext cx="523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1B3A5C"/>
                </a:solidFill>
                <a:latin typeface="Calibri"/>
              </a:rPr>
              <a:t>Biológicas</a:t>
            </a:r>
            <a:endParaRPr sz="24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8000" y="1980000"/>
            <a:ext cx="5232600" cy="190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2088000"/>
            <a:ext cx="523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1A1A1A"/>
                </a:solidFill>
                <a:latin typeface="Calibri"/>
              </a:rPr>
              <a:t>¿Toma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medicación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¿Tiene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enfermedades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Duerme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bien?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600" y="1548000"/>
            <a:ext cx="523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3A5C"/>
                </a:solidFill>
                <a:latin typeface="Calibri"/>
              </a:rPr>
              <a:t>Historia de aprendizaje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600" y="1980000"/>
            <a:ext cx="5232600" cy="190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8600" y="2088000"/>
            <a:ext cx="523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1A1A1A"/>
                </a:solidFill>
                <a:latin typeface="Calibri"/>
              </a:rPr>
              <a:t>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Cuándo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empezó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pasó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ese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momento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¿Hubo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experiencias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similares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528000"/>
            <a:ext cx="523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B3A5C"/>
                </a:solidFill>
                <a:latin typeface="Calibri"/>
              </a:rPr>
              <a:t>Reglas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3960000"/>
            <a:ext cx="5232600" cy="190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000" y="4068000"/>
            <a:ext cx="523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A1A1A"/>
                </a:solidFill>
                <a:latin typeface="Calibri"/>
              </a:rPr>
              <a:t>¿</a:t>
            </a:r>
            <a:r>
              <a:rPr b="1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b="1" i="0" dirty="0">
                <a:solidFill>
                  <a:srgbClr val="1A1A1A"/>
                </a:solidFill>
                <a:latin typeface="Calibri"/>
              </a:rPr>
              <a:t> se dice a </a:t>
            </a:r>
            <a:r>
              <a:rPr b="1" i="0" dirty="0" err="1">
                <a:solidFill>
                  <a:srgbClr val="1A1A1A"/>
                </a:solidFill>
                <a:latin typeface="Calibri"/>
              </a:rPr>
              <a:t>sí</a:t>
            </a:r>
            <a:r>
              <a:rPr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A1A"/>
                </a:solidFill>
                <a:latin typeface="Calibri"/>
              </a:rPr>
              <a:t>mismo</a:t>
            </a:r>
            <a:r>
              <a:rPr b="1" i="0" dirty="0">
                <a:solidFill>
                  <a:srgbClr val="1A1A1A"/>
                </a:solidFill>
                <a:latin typeface="Calibri"/>
              </a:rPr>
              <a:t>?
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"Si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salgo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, me van a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asaltar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"
"No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puedo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controlar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mi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ansiedad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8600" y="3528000"/>
            <a:ext cx="523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3A5C"/>
                </a:solidFill>
                <a:latin typeface="Calibri"/>
              </a:rPr>
              <a:t>Contexto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8600" y="3960000"/>
            <a:ext cx="5232600" cy="190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8600" y="4068000"/>
            <a:ext cx="523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1A1A1A"/>
                </a:solidFill>
                <a:latin typeface="Calibri"/>
              </a:rPr>
              <a:t>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Cuándo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ocurre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más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Cuándo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NO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ocurre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
¿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personas o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lugares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A1A1A"/>
                </a:solidFill>
                <a:latin typeface="Calibri"/>
              </a:rPr>
              <a:t>influyen</a:t>
            </a:r>
            <a:r>
              <a:rPr b="0" i="0" dirty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1534" y="5362053"/>
            <a:ext cx="7610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666666"/>
                </a:solidFill>
                <a:latin typeface="Calibri"/>
              </a:rPr>
              <a:t>No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listar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por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listar</a:t>
            </a:r>
            <a:endParaRPr lang="es-PY" sz="2400" i="1" dirty="0">
              <a:solidFill>
                <a:srgbClr val="666666"/>
              </a:solidFill>
              <a:latin typeface="Calibri"/>
            </a:endParaRPr>
          </a:p>
          <a:p>
            <a:pPr algn="ctr"/>
            <a:r>
              <a:rPr sz="2400" b="0" i="1" dirty="0" err="1">
                <a:solidFill>
                  <a:srgbClr val="666666"/>
                </a:solidFill>
                <a:latin typeface="Calibri"/>
              </a:rPr>
              <a:t>especificar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CÓMO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cada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variable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afecta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 a la </a:t>
            </a:r>
            <a:r>
              <a:rPr sz="2400" b="0" i="1" dirty="0" err="1">
                <a:solidFill>
                  <a:srgbClr val="666666"/>
                </a:solidFill>
                <a:latin typeface="Calibri"/>
              </a:rPr>
              <a:t>contingencia</a:t>
            </a:r>
            <a:r>
              <a:rPr sz="2400" b="0" i="1" dirty="0">
                <a:solidFill>
                  <a:srgbClr val="666666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22" name="Picture 21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Georgia"/>
              </a:rPr>
              <a:t>La hipótesis funcional: origen vs mantenimiento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548000"/>
            <a:ext cx="5196601" cy="468000"/>
          </a:xfrm>
          <a:prstGeom prst="roundRect">
            <a:avLst/>
          </a:prstGeom>
          <a:solidFill>
            <a:srgbClr val="D8D2C5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 err="1">
                <a:solidFill>
                  <a:srgbClr val="1A1A1A"/>
                </a:solidFill>
                <a:latin typeface="Calibri"/>
              </a:rPr>
              <a:t>Hipótesis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de ORIGEN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124000"/>
            <a:ext cx="51966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1A1A"/>
                </a:solidFill>
                <a:latin typeface="Calibri"/>
              </a:rPr>
              <a:t>¿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Cómo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 se 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aprendió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esta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conducta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?</a:t>
            </a: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000" i="0" dirty="0">
                <a:latin typeface="Calibri"/>
              </a:rPr>
              <a:t>→ </a:t>
            </a:r>
            <a:r>
              <a:rPr sz="2000" i="0" dirty="0" err="1">
                <a:latin typeface="Calibri"/>
              </a:rPr>
              <a:t>Puede</a:t>
            </a:r>
            <a:r>
              <a:rPr sz="2000" i="0" dirty="0">
                <a:latin typeface="Calibri"/>
              </a:rPr>
              <a:t> ser </a:t>
            </a:r>
            <a:r>
              <a:rPr sz="2000" i="0" dirty="0" err="1">
                <a:latin typeface="Calibri"/>
              </a:rPr>
              <a:t>desconocida</a:t>
            </a:r>
            <a:endParaRPr sz="2000" i="0" dirty="0">
              <a:latin typeface="Calibri"/>
            </a:endParaRPr>
          </a:p>
          <a:p>
            <a:pPr algn="ctr"/>
            <a:r>
              <a:rPr sz="2000" i="0" dirty="0">
                <a:latin typeface="Calibri"/>
              </a:rPr>
              <a:t>→ No </a:t>
            </a:r>
            <a:r>
              <a:rPr sz="2000" i="0" dirty="0" err="1">
                <a:latin typeface="Calibri"/>
              </a:rPr>
              <a:t>siempre</a:t>
            </a:r>
            <a:r>
              <a:rPr sz="2000" i="0" dirty="0">
                <a:latin typeface="Calibri"/>
              </a:rPr>
              <a:t> </a:t>
            </a:r>
            <a:r>
              <a:rPr sz="2000" i="0" dirty="0" err="1">
                <a:latin typeface="Calibri"/>
              </a:rPr>
              <a:t>necesaria</a:t>
            </a:r>
            <a:r>
              <a:rPr sz="2000" i="0" dirty="0">
                <a:latin typeface="Calibri"/>
              </a:rPr>
              <a:t> para </a:t>
            </a:r>
            <a:r>
              <a:rPr sz="2000" i="0" dirty="0" err="1">
                <a:latin typeface="Calibri"/>
              </a:rPr>
              <a:t>el</a:t>
            </a:r>
            <a:r>
              <a:rPr sz="2000" i="0" dirty="0">
                <a:latin typeface="Calibri"/>
              </a:rPr>
              <a:t> </a:t>
            </a:r>
            <a:r>
              <a:rPr sz="2000" i="0" dirty="0" err="1">
                <a:latin typeface="Calibri"/>
              </a:rPr>
              <a:t>tratamiento</a:t>
            </a:r>
            <a:endParaRPr sz="2000" i="0" dirty="0">
              <a:latin typeface="Calibri"/>
            </a:endParaRPr>
          </a:p>
          <a:p>
            <a:pPr algn="ctr"/>
            <a:r>
              <a:rPr sz="2000" i="0" dirty="0">
                <a:latin typeface="Calibri"/>
              </a:rPr>
              <a:t>→ </a:t>
            </a:r>
            <a:r>
              <a:rPr sz="2000" i="0" dirty="0" err="1">
                <a:latin typeface="Calibri"/>
              </a:rPr>
              <a:t>Útil</a:t>
            </a:r>
            <a:r>
              <a:rPr sz="2000" i="0" dirty="0">
                <a:latin typeface="Calibri"/>
              </a:rPr>
              <a:t> para </a:t>
            </a:r>
            <a:r>
              <a:rPr sz="2000" i="0" dirty="0" err="1">
                <a:latin typeface="Calibri"/>
              </a:rPr>
              <a:t>entender</a:t>
            </a:r>
            <a:r>
              <a:rPr sz="2000" i="0" dirty="0">
                <a:latin typeface="Calibri"/>
              </a:rPr>
              <a:t> al </a:t>
            </a:r>
            <a:r>
              <a:rPr sz="2000" i="0" dirty="0" err="1">
                <a:latin typeface="Calibri"/>
              </a:rPr>
              <a:t>paciente</a:t>
            </a:r>
            <a:endParaRPr sz="2000" i="0" dirty="0">
              <a:latin typeface="Calibri"/>
            </a:endParaRP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"Marge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fue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asaltada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en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el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Super Stock.
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Desde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ese día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empezó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evitar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salir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2601" y="1548000"/>
            <a:ext cx="5196601" cy="4680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Hipótesis de MANTENIMIENTO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2601" y="2124000"/>
            <a:ext cx="51966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1A1A"/>
                </a:solidFill>
                <a:latin typeface="Calibri"/>
              </a:rPr>
              <a:t>¿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 la </a:t>
            </a:r>
            <a:r>
              <a:rPr sz="2000" b="1" dirty="0" err="1">
                <a:solidFill>
                  <a:srgbClr val="1A1A1A"/>
                </a:solidFill>
                <a:latin typeface="Calibri"/>
              </a:rPr>
              <a:t>sostiene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 HOY?</a:t>
            </a: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Calibri"/>
              </a:rPr>
              <a:t>→ Esta es la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guía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el</a:t>
            </a:r>
            <a:r>
              <a:rPr sz="20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Calibri"/>
              </a:rPr>
              <a:t>tratamiento</a:t>
            </a:r>
            <a:endParaRPr sz="20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2000" b="0" i="0" dirty="0">
                <a:solidFill>
                  <a:srgbClr val="1A1A1A"/>
                </a:solidFill>
                <a:latin typeface="Calibri"/>
              </a:rPr>
              <a:t>→ Se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establece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desde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las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contingencias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actuales</a:t>
            </a:r>
            <a:endParaRPr sz="2000" b="0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ctr"/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"La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evitación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reduce la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taquicardia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(RN). Homero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resuelve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las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compras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(RN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adicional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). La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regla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"me van 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asaltar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"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amplifica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la </a:t>
            </a:r>
            <a:r>
              <a:rPr sz="2000" b="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respuesta</a:t>
            </a:r>
            <a:r>
              <a:rPr sz="20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8673" y="5473050"/>
            <a:ext cx="4322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 dirty="0">
                <a:solidFill>
                  <a:srgbClr val="1B3A5C"/>
                </a:solidFill>
                <a:latin typeface="Calibri"/>
              </a:rPr>
              <a:t>El </a:t>
            </a:r>
            <a:r>
              <a:rPr sz="1600" b="1" i="1" dirty="0" err="1">
                <a:solidFill>
                  <a:srgbClr val="1B3A5C"/>
                </a:solidFill>
                <a:latin typeface="Calibri"/>
              </a:rPr>
              <a:t>pasado</a:t>
            </a:r>
            <a:r>
              <a:rPr sz="1600" b="1" i="1" dirty="0">
                <a:solidFill>
                  <a:srgbClr val="1B3A5C"/>
                </a:solidFill>
                <a:latin typeface="Calibri"/>
              </a:rPr>
              <a:t> no CAUSA la </a:t>
            </a:r>
            <a:r>
              <a:rPr sz="1600" b="1" i="1" dirty="0" err="1">
                <a:solidFill>
                  <a:srgbClr val="1B3A5C"/>
                </a:solidFill>
                <a:latin typeface="Calibri"/>
              </a:rPr>
              <a:t>conducta</a:t>
            </a:r>
            <a:r>
              <a:rPr sz="1600" b="1" i="1" dirty="0">
                <a:solidFill>
                  <a:srgbClr val="1B3A5C"/>
                </a:solidFill>
                <a:latin typeface="Calibri"/>
              </a:rPr>
              <a:t> actual.  La </a:t>
            </a:r>
            <a:r>
              <a:rPr sz="1600" b="1" i="1" dirty="0" err="1">
                <a:solidFill>
                  <a:srgbClr val="1B3A5C"/>
                </a:solidFill>
                <a:latin typeface="Calibri"/>
              </a:rPr>
              <a:t>sostienen</a:t>
            </a:r>
            <a:r>
              <a:rPr sz="1600" b="1" i="1" dirty="0">
                <a:solidFill>
                  <a:srgbClr val="1B3A5C"/>
                </a:solidFill>
                <a:latin typeface="Calibri"/>
              </a:rPr>
              <a:t> las </a:t>
            </a:r>
            <a:r>
              <a:rPr sz="1600" b="1" i="1" dirty="0" err="1">
                <a:solidFill>
                  <a:srgbClr val="1B3A5C"/>
                </a:solidFill>
                <a:latin typeface="Calibri"/>
              </a:rPr>
              <a:t>contingencias</a:t>
            </a:r>
            <a:r>
              <a:rPr sz="1600" b="1" i="1" dirty="0">
                <a:solidFill>
                  <a:srgbClr val="1B3A5C"/>
                </a:solidFill>
                <a:latin typeface="Calibri"/>
              </a:rPr>
              <a:t> PRESENTES.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4" name="Picture 13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Georgia"/>
              </a:rPr>
              <a:t>Marge: del diagnóstico al análisis funcional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98528"/>
              </p:ext>
            </p:extLst>
          </p:nvPr>
        </p:nvGraphicFramePr>
        <p:xfrm>
          <a:off x="648000" y="1512000"/>
          <a:ext cx="10537200" cy="38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  <a:endParaRPr sz="2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</a:rPr>
                        <a:t>Marge Simpson — Asunción, Paraguay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Conducta</a:t>
                      </a:r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 (R)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Evitar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lugares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concurridos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sin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compañía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Antecedente</a:t>
                      </a:r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 (Ed)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Homero dice "¿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vamos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a</a:t>
                      </a:r>
                      <a:r>
                        <a:rPr lang="es-PY"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salir…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" /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pensar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en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salir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sola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Consecuente</a:t>
                      </a:r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 (C)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Homero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va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solo → Marge se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queda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→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desaparece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ansiedad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 (RN)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Resp. </a:t>
                      </a:r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condicionada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Taquicardia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ahogo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ante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cualquier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lugar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concurrido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 (E-R, CC)</a:t>
                      </a: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Variable </a:t>
                      </a:r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disposicional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Regla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: "Si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salgo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sola, me van 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asaltar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de nuevo"</a:t>
                      </a:r>
                    </a:p>
                  </a:txBody>
                  <a:tcPr anchor="ctr">
                    <a:solidFill>
                      <a:srgbClr val="E8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Variable </a:t>
                      </a:r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motivadora</a:t>
                      </a:r>
                      <a:endParaRPr sz="16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Estrés</a:t>
                      </a:r>
                      <a:r>
                        <a:rPr sz="1600" b="1" dirty="0">
                          <a:solidFill>
                            <a:srgbClr val="1A1A1A"/>
                          </a:solidFill>
                          <a:latin typeface="Calibri"/>
                        </a:rPr>
                        <a:t> del </a:t>
                      </a:r>
                      <a:r>
                        <a:rPr sz="160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hogar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: Bart + Homero + Maggie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potencia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 la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respuesta</a:t>
                      </a:r>
                      <a:endParaRPr sz="16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D8D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86527" y="5331521"/>
            <a:ext cx="7056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latin typeface="Calibri"/>
              </a:rPr>
              <a:t>La </a:t>
            </a:r>
            <a:r>
              <a:rPr b="1" i="0" dirty="0" err="1">
                <a:latin typeface="Calibri"/>
              </a:rPr>
              <a:t>evitación</a:t>
            </a:r>
            <a:r>
              <a:rPr b="1" i="0" dirty="0">
                <a:latin typeface="Calibri"/>
              </a:rPr>
              <a:t> se </a:t>
            </a:r>
            <a:r>
              <a:rPr b="1" i="0" dirty="0" err="1">
                <a:latin typeface="Calibri"/>
              </a:rPr>
              <a:t>mantiene</a:t>
            </a:r>
            <a:r>
              <a:rPr b="1" i="0" dirty="0">
                <a:latin typeface="Calibri"/>
              </a:rPr>
              <a:t> </a:t>
            </a:r>
            <a:r>
              <a:rPr b="1" i="0" dirty="0" err="1">
                <a:latin typeface="Calibri"/>
              </a:rPr>
              <a:t>por</a:t>
            </a:r>
            <a:r>
              <a:rPr b="1" i="0" dirty="0">
                <a:latin typeface="Calibri"/>
              </a:rPr>
              <a:t> DOS </a:t>
            </a:r>
            <a:r>
              <a:rPr b="1" i="0" dirty="0" err="1">
                <a:latin typeface="Calibri"/>
              </a:rPr>
              <a:t>razones</a:t>
            </a:r>
            <a:r>
              <a:rPr b="1" i="0" dirty="0">
                <a:latin typeface="Calibri"/>
              </a:rPr>
              <a:t>: </a:t>
            </a:r>
            <a:endParaRPr lang="es-PY" b="1" dirty="0">
              <a:latin typeface="Calibri"/>
            </a:endParaRPr>
          </a:p>
          <a:p>
            <a:pPr algn="ctr"/>
            <a:r>
              <a:rPr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produce </a:t>
            </a:r>
            <a:r>
              <a:rPr b="1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alivio</a:t>
            </a:r>
            <a:r>
              <a:rPr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+ Homero </a:t>
            </a:r>
            <a:r>
              <a:rPr b="1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resuelve</a:t>
            </a:r>
            <a:r>
              <a:rPr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b="1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por</a:t>
            </a:r>
            <a:r>
              <a:rPr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</a:t>
            </a:r>
            <a:r>
              <a:rPr b="1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ella</a:t>
            </a:r>
            <a:endParaRPr lang="es-PY" b="1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  <a:p>
            <a:pPr algn="ctr"/>
            <a:r>
              <a:rPr b="1" i="0" dirty="0">
                <a:latin typeface="Calibri"/>
              </a:rPr>
              <a:t>El </a:t>
            </a:r>
            <a:r>
              <a:rPr b="1" i="0" dirty="0" err="1">
                <a:latin typeface="Calibri"/>
              </a:rPr>
              <a:t>tratamiento</a:t>
            </a:r>
            <a:r>
              <a:rPr b="1" i="0" dirty="0">
                <a:latin typeface="Calibri"/>
              </a:rPr>
              <a:t> </a:t>
            </a:r>
            <a:r>
              <a:rPr b="1" i="0" dirty="0" err="1">
                <a:latin typeface="Calibri"/>
              </a:rPr>
              <a:t>debe</a:t>
            </a:r>
            <a:r>
              <a:rPr b="1" i="0" dirty="0">
                <a:latin typeface="Calibri"/>
              </a:rPr>
              <a:t> </a:t>
            </a:r>
            <a:r>
              <a:rPr b="1" i="0" dirty="0" err="1">
                <a:latin typeface="Calibri"/>
              </a:rPr>
              <a:t>atacar</a:t>
            </a:r>
            <a:r>
              <a:rPr b="1" i="0" dirty="0">
                <a:latin typeface="Calibri"/>
              </a:rPr>
              <a:t> ambas </a:t>
            </a:r>
            <a:r>
              <a:rPr b="1" i="0" dirty="0" err="1">
                <a:latin typeface="Calibri"/>
              </a:rPr>
              <a:t>contingencias</a:t>
            </a:r>
            <a:r>
              <a:rPr b="1" i="0" dirty="0"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1" name="Picture 10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000" y="540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927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82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390000"/>
            <a:ext cx="10897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21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720000"/>
            <a:ext cx="945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  <a:latin typeface="Georgia"/>
              </a:rPr>
              <a:t>Para llevarse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728000"/>
            <a:ext cx="100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5C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0" y="2088000"/>
            <a:ext cx="8305200" cy="19050"/>
          </a:xfrm>
          <a:prstGeom prst="rect">
            <a:avLst/>
          </a:prstGeom>
          <a:solidFill>
            <a:srgbClr val="CC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54000" y="2125893"/>
            <a:ext cx="8197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0" i="0" dirty="0">
                <a:solidFill>
                  <a:srgbClr val="1A1A1A"/>
                </a:solidFill>
                <a:latin typeface="Calibri"/>
              </a:rPr>
              <a:t>Lo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importa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no es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cómo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se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ve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la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conducta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(</a:t>
            </a:r>
            <a:r>
              <a:rPr sz="1900" b="1" i="0" dirty="0" err="1">
                <a:solidFill>
                  <a:srgbClr val="1A1A1A"/>
                </a:solidFill>
                <a:latin typeface="Calibri"/>
              </a:rPr>
              <a:t>morfología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),
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sino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para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qué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sirve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ese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contexto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(</a:t>
            </a:r>
            <a:r>
              <a:rPr sz="1900" b="1" i="0" dirty="0" err="1">
                <a:solidFill>
                  <a:srgbClr val="1A1A1A"/>
                </a:solidFill>
                <a:latin typeface="Calibri"/>
              </a:rPr>
              <a:t>función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168000"/>
            <a:ext cx="100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5C"/>
                </a:solidFill>
                <a:latin typeface="Georgia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0" y="3528000"/>
            <a:ext cx="8305200" cy="19050"/>
          </a:xfrm>
          <a:prstGeom prst="rect">
            <a:avLst/>
          </a:prstGeom>
          <a:solidFill>
            <a:srgbClr val="CC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28000" y="3537525"/>
            <a:ext cx="8197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sz="1900" b="0" i="0" dirty="0">
                <a:solidFill>
                  <a:srgbClr val="1A1A1A"/>
                </a:solidFill>
                <a:latin typeface="Calibri"/>
              </a:rPr>
              <a:t>Las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conductas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se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mantienen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porque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obtienen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consecuencias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.
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Identificar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s-PY" sz="1900" b="1" i="0" dirty="0">
                <a:solidFill>
                  <a:srgbClr val="1A1A1A"/>
                </a:solidFill>
                <a:latin typeface="Calibri"/>
              </a:rPr>
              <a:t>CUÁLES</a:t>
            </a:r>
            <a:r>
              <a:rPr sz="19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s-PY" sz="1900" b="1" i="0" dirty="0">
                <a:solidFill>
                  <a:srgbClr val="1A1A1A"/>
                </a:solidFill>
                <a:latin typeface="Calibri"/>
              </a:rPr>
              <a:t>SON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s-PY" sz="1900" b="0" i="0" dirty="0">
                <a:solidFill>
                  <a:srgbClr val="1A1A1A"/>
                </a:solidFill>
                <a:latin typeface="Calibri"/>
              </a:rPr>
              <a:t>es 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la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tarea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del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psicólogo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608000"/>
            <a:ext cx="100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5C"/>
                </a:solidFill>
                <a:latin typeface="Georgia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968000"/>
            <a:ext cx="8305200" cy="19050"/>
          </a:xfrm>
          <a:prstGeom prst="rect">
            <a:avLst/>
          </a:prstGeom>
          <a:solidFill>
            <a:srgbClr val="CC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0000" y="4987050"/>
            <a:ext cx="8197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0" i="0" dirty="0">
                <a:solidFill>
                  <a:srgbClr val="1A1A1A"/>
                </a:solidFill>
                <a:latin typeface="Calibri"/>
              </a:rPr>
              <a:t>El AF no es un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diagnóstico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.
Es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una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hipótesis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explicativa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que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guía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 la </a:t>
            </a:r>
            <a:r>
              <a:rPr sz="1900" b="0" i="0" dirty="0" err="1">
                <a:solidFill>
                  <a:srgbClr val="1A1A1A"/>
                </a:solidFill>
                <a:latin typeface="Calibri"/>
              </a:rPr>
              <a:t>intervención</a:t>
            </a:r>
            <a:r>
              <a:rPr sz="1900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6426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Lic. Jean Clemotte  |  @Psico_Educa20</a:t>
            </a:r>
          </a:p>
        </p:txBody>
      </p:sp>
      <p:pic>
        <p:nvPicPr>
          <p:cNvPr id="18" name="Picture 17" descr="PsicoEduca Logo final_Mesa de trabajo 1 copi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72000"/>
            <a:ext cx="1368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nt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340464" cy="6858000"/>
          </a:xfrm>
          <a:prstGeom prst="rect">
            <a:avLst/>
          </a:prstGeom>
          <a:solidFill>
            <a:srgbClr val="F0EBE0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576000"/>
            <a:ext cx="57600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000" y="6120000"/>
            <a:ext cx="10897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000" y="180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@PSICO_EDUCA20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440000"/>
            <a:ext cx="5760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1" dirty="0">
                <a:solidFill>
                  <a:srgbClr val="1A1A1A"/>
                </a:solidFill>
                <a:latin typeface="Georgia"/>
              </a:rPr>
              <a:t>Gracias </a:t>
            </a:r>
            <a:r>
              <a:rPr sz="5200" b="1" i="1" dirty="0" err="1">
                <a:solidFill>
                  <a:srgbClr val="1A1A1A"/>
                </a:solidFill>
                <a:latin typeface="Georgia"/>
              </a:rPr>
              <a:t>por</a:t>
            </a:r>
            <a:r>
              <a:rPr sz="5200" b="1" i="1" dirty="0">
                <a:solidFill>
                  <a:srgbClr val="1A1A1A"/>
                </a:solidFill>
                <a:latin typeface="Georgia"/>
              </a:rPr>
              <a:t>
</a:t>
            </a:r>
            <a:r>
              <a:rPr sz="5200" b="1" i="1" dirty="0" err="1">
                <a:solidFill>
                  <a:srgbClr val="1A1A1A"/>
                </a:solidFill>
                <a:latin typeface="Georgia"/>
              </a:rPr>
              <a:t>su</a:t>
            </a:r>
            <a:r>
              <a:rPr sz="5200" b="1" i="1" dirty="0">
                <a:solidFill>
                  <a:srgbClr val="1A1A1A"/>
                </a:solidFill>
                <a:latin typeface="Georgia"/>
              </a:rPr>
              <a:t> </a:t>
            </a:r>
            <a:r>
              <a:rPr sz="5200" b="1" i="1" dirty="0" err="1">
                <a:solidFill>
                  <a:srgbClr val="1A1A1A"/>
                </a:solidFill>
                <a:latin typeface="Georgia"/>
              </a:rPr>
              <a:t>Atención</a:t>
            </a:r>
            <a:endParaRPr sz="5200" b="1" i="1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000" y="3650832"/>
            <a:ext cx="576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 err="1">
                <a:solidFill>
                  <a:srgbClr val="666666"/>
                </a:solidFill>
                <a:latin typeface="Calibri"/>
              </a:rPr>
              <a:t>Análisis</a:t>
            </a:r>
            <a:r>
              <a:rPr sz="1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66666"/>
                </a:solidFill>
                <a:latin typeface="Calibri"/>
              </a:rPr>
              <a:t>Funcional</a:t>
            </a:r>
            <a:r>
              <a:rPr sz="1700" b="0" i="0" dirty="0">
                <a:solidFill>
                  <a:srgbClr val="666666"/>
                </a:solidFill>
                <a:latin typeface="Calibri"/>
              </a:rPr>
              <a:t> de la </a:t>
            </a:r>
            <a:r>
              <a:rPr sz="1700" b="0" i="0" dirty="0" err="1">
                <a:solidFill>
                  <a:srgbClr val="666666"/>
                </a:solidFill>
                <a:latin typeface="Calibri"/>
              </a:rPr>
              <a:t>Conducta</a:t>
            </a:r>
            <a:r>
              <a:rPr sz="1700" b="0" i="0" dirty="0">
                <a:solidFill>
                  <a:srgbClr val="666666"/>
                </a:solidFill>
                <a:latin typeface="Calibri"/>
              </a:rPr>
              <a:t>
</a:t>
            </a:r>
            <a:r>
              <a:rPr sz="1700" b="0" i="0" dirty="0" err="1">
                <a:solidFill>
                  <a:srgbClr val="666666"/>
                </a:solidFill>
                <a:latin typeface="Calibri"/>
              </a:rPr>
              <a:t>Fundamentos</a:t>
            </a:r>
            <a:r>
              <a:rPr sz="1700" b="0" i="0" dirty="0">
                <a:solidFill>
                  <a:srgbClr val="666666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666666"/>
                </a:solidFill>
                <a:latin typeface="Calibri"/>
              </a:rPr>
              <a:t>práctica</a:t>
            </a:r>
            <a:r>
              <a:rPr sz="1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66666"/>
                </a:solidFill>
                <a:latin typeface="Calibri"/>
              </a:rPr>
              <a:t>clínica</a:t>
            </a:r>
            <a:endParaRPr sz="1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8000" y="5400000"/>
            <a:ext cx="57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B3A5C"/>
                </a:solidFill>
                <a:latin typeface="Calibri"/>
              </a:rPr>
              <a:t>Lic. Jean Clemotte  |  PsicoEduca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6464" y="5958000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2162</Words>
  <Application>Microsoft Office PowerPoint</Application>
  <PresentationFormat>Personalizado</PresentationFormat>
  <Paragraphs>328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Naku CPI</cp:lastModifiedBy>
  <cp:revision>2</cp:revision>
  <dcterms:created xsi:type="dcterms:W3CDTF">2013-01-27T09:14:16Z</dcterms:created>
  <dcterms:modified xsi:type="dcterms:W3CDTF">2026-06-01T19:25:56Z</dcterms:modified>
  <cp:category/>
</cp:coreProperties>
</file>