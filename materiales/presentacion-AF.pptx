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720000"/>
            <a:ext cx="7920000" cy="39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5F0DC"/>
                </a:solidFill>
                <a:latin typeface="Georgia"/>
              </a:rPr>
              <a:t>Análisis
Funcional
de la Conducta</a:t>
            </a:r>
          </a:p>
        </p:txBody>
      </p:sp>
      <p:sp>
        <p:nvSpPr>
          <p:cNvPr id="3" name="Rectangle 2"/>
          <p:cNvSpPr/>
          <p:nvPr/>
        </p:nvSpPr>
        <p:spPr>
          <a:xfrm>
            <a:off x="648000" y="4752000"/>
            <a:ext cx="7200000" cy="38100"/>
          </a:xfrm>
          <a:prstGeom prst="rect">
            <a:avLst/>
          </a:prstGeom>
          <a:solidFill>
            <a:srgbClr val="E8A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8000" y="4968000"/>
            <a:ext cx="90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A9FE0"/>
                </a:solidFill>
                <a:latin typeface="Calibri"/>
              </a:rPr>
              <a:t>Cómo entender el comportamiento más allá del diagnóstico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5544000"/>
            <a:ext cx="79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ABBCC"/>
                </a:solidFill>
                <a:latin typeface="Georgia"/>
              </a:rPr>
              <a:t>Presentación por Lic. Jean Clemotte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33200" y="540000"/>
            <a:ext cx="360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0" b="1" i="0">
                <a:solidFill>
                  <a:srgbClr val="2B4A6E"/>
                </a:solidFill>
                <a:latin typeface="Georgia"/>
              </a:rPr>
              <a:t>AF</a:t>
            </a:r>
          </a:p>
        </p:txBody>
      </p:sp>
      <p:pic>
        <p:nvPicPr>
          <p:cNvPr id="7" name="Picture 6" descr="oscuro sin fo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0" y="108000"/>
            <a:ext cx="1440000" cy="79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8000" y="6462000"/>
            <a:ext cx="79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5F0DC"/>
                </a:solidFill>
                <a:latin typeface="Calibri"/>
              </a:rPr>
              <a:t>Lic. Jean Clemotte  |  @Psico_Educa20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D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180000"/>
            <a:ext cx="79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B5EA7"/>
                </a:solidFill>
                <a:latin typeface="Calibri"/>
              </a:rPr>
              <a:t>ANÁLISIS FUNCIONAL DE LA CONDUCTA</a:t>
            </a:r>
          </a:p>
        </p:txBody>
      </p:sp>
      <p:sp>
        <p:nvSpPr>
          <p:cNvPr id="3" name="Rectangle 2"/>
          <p:cNvSpPr/>
          <p:nvPr/>
        </p:nvSpPr>
        <p:spPr>
          <a:xfrm>
            <a:off x="648000" y="468000"/>
            <a:ext cx="7920000" cy="12700"/>
          </a:xfrm>
          <a:prstGeom prst="rect">
            <a:avLst/>
          </a:prstGeom>
          <a:solidFill>
            <a:srgbClr val="2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8000" y="612000"/>
            <a:ext cx="90972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E3A5F"/>
                </a:solidFill>
                <a:latin typeface="Georgia"/>
              </a:rPr>
              <a:t>Marge, 39 años — Asunción, Paraguay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1512000"/>
            <a:ext cx="6840000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1E3A5F"/>
                </a:solidFill>
                <a:latin typeface="Calibri"/>
              </a:rPr>
              <a:t>"Homero convenció a Marge de ir a consulta.</a:t>
            </a:r>
          </a:p>
          <a:p>
            <a:pPr algn="l"/>
            <a:r>
              <a:rPr sz="1600" b="0" i="1">
                <a:solidFill>
                  <a:srgbClr val="1E3A5F"/>
                </a:solidFill>
                <a:latin typeface="Calibri"/>
              </a:rPr>
              <a:t> La asaltaron en el Super Stock de Villa Morra.</a:t>
            </a:r>
          </a:p>
          <a:p>
            <a:pPr algn="l"/>
            <a:r>
              <a:rPr sz="1600" b="0" i="1">
                <a:solidFill>
                  <a:srgbClr val="1E3A5F"/>
                </a:solidFill>
                <a:latin typeface="Calibri"/>
              </a:rPr>
              <a:t> Desde entonces evita salir sola a cualquier lugar concurrido."</a:t>
            </a:r>
          </a:p>
          <a:p>
            <a:pPr algn="l"/>
            <a:r>
              <a:rPr sz="1600">
                <a:solidFill>
                  <a:srgbClr val="1E3A5F"/>
                </a:solidFill>
                <a:latin typeface="Calibri"/>
              </a:rPr>
              <a:t> </a:t>
            </a:r>
          </a:p>
          <a:p>
            <a:pPr algn="l"/>
            <a:r>
              <a:rPr sz="1500" b="1" i="0">
                <a:solidFill>
                  <a:srgbClr val="2B5EA7"/>
                </a:solidFill>
                <a:latin typeface="Calibri"/>
              </a:rPr>
              <a:t>Diagnóstico: Trastorno de pánico con agorafobia.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0000" y="1368000"/>
            <a:ext cx="360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2B5EA7"/>
                </a:solidFill>
                <a:latin typeface="Georgia"/>
              </a:rPr>
              <a:t>¿Eso explica
por qué no
puede salir?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0000" y="3168000"/>
            <a:ext cx="360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E8A835"/>
                </a:solidFill>
                <a:latin typeface="Georgia"/>
              </a:rPr>
              <a:t>NO.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8000" y="4860000"/>
            <a:ext cx="10537200" cy="38100"/>
          </a:xfrm>
          <a:prstGeom prst="rect">
            <a:avLst/>
          </a:prstGeom>
          <a:solidFill>
            <a:srgbClr val="E8A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8000" y="5004000"/>
            <a:ext cx="105372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2B5EA7"/>
                </a:solidFill>
                <a:latin typeface="Calibri"/>
              </a:rPr>
              <a:t>Solo le pone nombre. Vamos a aprender a responder la pregunta real.</a:t>
            </a:r>
          </a:p>
        </p:txBody>
      </p:sp>
      <p:pic>
        <p:nvPicPr>
          <p:cNvPr id="10" name="Picture 9" descr="claro sin fo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0" y="108000"/>
            <a:ext cx="1440000" cy="792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8000" y="6462000"/>
            <a:ext cx="79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88888"/>
                </a:solidFill>
                <a:latin typeface="Calibri"/>
              </a:rPr>
              <a:t>Lic. Jean Clemotte  |  @Psico_Educa20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D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180000"/>
            <a:ext cx="79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B5EA7"/>
                </a:solidFill>
                <a:latin typeface="Calibri"/>
              </a:rPr>
              <a:t>ANÁLISIS FUNCIONAL DE LA CONDUCTA</a:t>
            </a:r>
          </a:p>
        </p:txBody>
      </p:sp>
      <p:sp>
        <p:nvSpPr>
          <p:cNvPr id="3" name="Rectangle 2"/>
          <p:cNvSpPr/>
          <p:nvPr/>
        </p:nvSpPr>
        <p:spPr>
          <a:xfrm>
            <a:off x="648000" y="468000"/>
            <a:ext cx="7920000" cy="12700"/>
          </a:xfrm>
          <a:prstGeom prst="rect">
            <a:avLst/>
          </a:prstGeom>
          <a:solidFill>
            <a:srgbClr val="2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8000" y="612000"/>
            <a:ext cx="43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E3A5F"/>
                </a:solidFill>
                <a:latin typeface="Georgia"/>
              </a:rPr>
              <a:t>¿Qué vamos a ver?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8000" y="1620000"/>
            <a:ext cx="827999" cy="68400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E8A835"/>
                </a:solidFill>
                <a:latin typeface="Georg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28000" y="1620000"/>
            <a:ext cx="94572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E3A5F"/>
                </a:solidFill>
                <a:latin typeface="Calibri"/>
              </a:rPr>
              <a:t>Fundamentos del AF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28000" y="2052000"/>
            <a:ext cx="94572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B5EA7"/>
                </a:solidFill>
                <a:latin typeface="Calibri"/>
              </a:rPr>
              <a:t>Qué es  •  4 supuestos  •  Funcionalidad vs Morfología</a:t>
            </a:r>
          </a:p>
        </p:txBody>
      </p:sp>
      <p:sp>
        <p:nvSpPr>
          <p:cNvPr id="8" name="Rectangle 7"/>
          <p:cNvSpPr/>
          <p:nvPr/>
        </p:nvSpPr>
        <p:spPr>
          <a:xfrm>
            <a:off x="648000" y="2447999"/>
            <a:ext cx="10537200" cy="12700"/>
          </a:xfrm>
          <a:prstGeom prst="rect">
            <a:avLst/>
          </a:prstGeom>
          <a:solidFill>
            <a:srgbClr val="CCC8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8000" y="3060000"/>
            <a:ext cx="827999" cy="68400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E8A835"/>
                </a:solidFill>
                <a:latin typeface="Georgi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28000" y="3060000"/>
            <a:ext cx="94572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E3A5F"/>
                </a:solidFill>
                <a:latin typeface="Calibri"/>
              </a:rPr>
              <a:t>Las leyes del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28000" y="3492000"/>
            <a:ext cx="94572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B5EA7"/>
                </a:solidFill>
                <a:latin typeface="Calibri"/>
              </a:rPr>
              <a:t>CC  •  CO  •  Ed  •  Variables disposicionales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8000" y="3887999"/>
            <a:ext cx="10537200" cy="12700"/>
          </a:xfrm>
          <a:prstGeom prst="rect">
            <a:avLst/>
          </a:prstGeom>
          <a:solidFill>
            <a:srgbClr val="CCC8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8000" y="4500000"/>
            <a:ext cx="827999" cy="68400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E8A835"/>
                </a:solidFill>
                <a:latin typeface="Georgia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28000" y="4500000"/>
            <a:ext cx="94572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E3A5F"/>
                </a:solidFill>
                <a:latin typeface="Calibri"/>
              </a:rPr>
              <a:t>El procedimiento paso a paso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28000" y="4932000"/>
            <a:ext cx="94572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B5EA7"/>
                </a:solidFill>
                <a:latin typeface="Calibri"/>
              </a:rPr>
              <a:t>Describir  •  Antecedentes/consecuentes  •  Hipótesis funcional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000" y="5940000"/>
            <a:ext cx="105372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B5EA7"/>
                </a:solidFill>
                <a:latin typeface="Calibri"/>
              </a:rPr>
              <a:t>Caso guía: Marge Simpson  —  Super Stock, Villa Morra</a:t>
            </a:r>
          </a:p>
        </p:txBody>
      </p:sp>
      <p:pic>
        <p:nvPicPr>
          <p:cNvPr id="17" name="Picture 16" descr="claro sin fo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0" y="108000"/>
            <a:ext cx="1440000" cy="792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8000" y="6462000"/>
            <a:ext cx="79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88888"/>
                </a:solidFill>
                <a:latin typeface="Calibri"/>
              </a:rPr>
              <a:t>Lic. Jean Clemotte  |  @Psico_Educa20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1080000"/>
            <a:ext cx="180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 i="0">
                <a:solidFill>
                  <a:srgbClr val="E8A835"/>
                </a:solidFill>
                <a:latin typeface="Georgia"/>
              </a:rPr>
              <a:t>01</a:t>
            </a:r>
          </a:p>
        </p:txBody>
      </p:sp>
      <p:sp>
        <p:nvSpPr>
          <p:cNvPr id="3" name="Rectangle 2"/>
          <p:cNvSpPr/>
          <p:nvPr/>
        </p:nvSpPr>
        <p:spPr>
          <a:xfrm>
            <a:off x="2736000" y="2340000"/>
            <a:ext cx="7200000" cy="38100"/>
          </a:xfrm>
          <a:prstGeom prst="rect">
            <a:avLst/>
          </a:prstGeom>
          <a:solidFill>
            <a:srgbClr val="E8A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36000" y="2592000"/>
            <a:ext cx="83772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5F0DC"/>
                </a:solidFill>
                <a:latin typeface="Georgia"/>
              </a:rPr>
              <a:t>¿Qué es el
Análisis Funcional?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36000" y="4500000"/>
            <a:ext cx="83772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A9FE0"/>
                </a:solidFill>
                <a:latin typeface="Calibri"/>
              </a:rPr>
              <a:t>Definición  •  4 supuestos  •  Funcionalidad vs Morfología</a:t>
            </a:r>
          </a:p>
        </p:txBody>
      </p:sp>
      <p:pic>
        <p:nvPicPr>
          <p:cNvPr id="6" name="Picture 5" descr="oscuro sin fo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0" y="108000"/>
            <a:ext cx="1440000" cy="79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8000" y="6462000"/>
            <a:ext cx="79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5F0DC"/>
                </a:solidFill>
                <a:latin typeface="Calibri"/>
              </a:rPr>
              <a:t>Lic. Jean Clemotte  |  @Psico_Educa20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D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180000"/>
            <a:ext cx="79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B5EA7"/>
                </a:solidFill>
                <a:latin typeface="Calibri"/>
              </a:rPr>
              <a:t>BLOQUE 01 — ¿QUÉ ES EL AF?</a:t>
            </a:r>
          </a:p>
        </p:txBody>
      </p:sp>
      <p:sp>
        <p:nvSpPr>
          <p:cNvPr id="3" name="Rectangle 2"/>
          <p:cNvSpPr/>
          <p:nvPr/>
        </p:nvSpPr>
        <p:spPr>
          <a:xfrm>
            <a:off x="648000" y="468000"/>
            <a:ext cx="7920000" cy="12700"/>
          </a:xfrm>
          <a:prstGeom prst="rect">
            <a:avLst/>
          </a:prstGeom>
          <a:solidFill>
            <a:srgbClr val="2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8000" y="612000"/>
            <a:ext cx="90972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E3A5F"/>
                </a:solidFill>
                <a:latin typeface="Georgia"/>
              </a:rPr>
              <a:t>El diagnóstico describe. El AF explica.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8000" y="1512000"/>
          <a:ext cx="9097200" cy="28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48600"/>
                <a:gridCol w="4548600"/>
              </a:tblGrid>
              <a:tr h="72000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5F0DC"/>
                          </a:solidFill>
                          <a:latin typeface="Calibri"/>
                        </a:rPr>
                        <a:t>Diagnóstico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5F0DC"/>
                          </a:solidFill>
                          <a:latin typeface="Calibri"/>
                        </a:rPr>
                        <a:t>El Análisis Funcional pregunta...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720000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E3A5F"/>
                          </a:solidFill>
                          <a:latin typeface="Calibri"/>
                        </a:rPr>
                        <a:t>"Trastorno de pánico"</a:t>
                      </a:r>
                    </a:p>
                  </a:txBody>
                  <a:tcPr>
                    <a:solidFill>
                      <a:srgbClr val="F2ED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E3A5F"/>
                          </a:solidFill>
                          <a:latin typeface="Calibri"/>
                        </a:rPr>
                        <a:t>¿Qué hace Marge exactamente?</a:t>
                      </a:r>
                    </a:p>
                  </a:txBody>
                  <a:tcPr>
                    <a:solidFill>
                      <a:srgbClr val="F2EDE4"/>
                    </a:solidFill>
                  </a:tcPr>
                </a:tc>
              </a:tr>
              <a:tr h="720000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E3A5F"/>
                          </a:solidFill>
                          <a:latin typeface="Calibri"/>
                        </a:rPr>
                        <a:t>"Depresión mayor"</a:t>
                      </a:r>
                    </a:p>
                  </a:txBody>
                  <a:tcPr>
                    <a:solidFill>
                      <a:srgbClr val="E0DB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E3A5F"/>
                          </a:solidFill>
                          <a:latin typeface="Calibri"/>
                        </a:rPr>
                        <a:t>¿Cuándo ocurre? ¿Cuándo NO ocurre?</a:t>
                      </a:r>
                    </a:p>
                  </a:txBody>
                  <a:tcPr>
                    <a:solidFill>
                      <a:srgbClr val="E0DBD0"/>
                    </a:solidFill>
                  </a:tcPr>
                </a:tc>
              </a:tr>
              <a:tr h="720000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E3A5F"/>
                          </a:solidFill>
                          <a:latin typeface="Calibri"/>
                        </a:rPr>
                        <a:t>"Fobia social"</a:t>
                      </a:r>
                    </a:p>
                  </a:txBody>
                  <a:tcPr>
                    <a:solidFill>
                      <a:srgbClr val="F2ED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E3A5F"/>
                          </a:solidFill>
                          <a:latin typeface="Calibri"/>
                        </a:rPr>
                        <a:t>¿Qué pasa después de que lo hace?</a:t>
                      </a:r>
                    </a:p>
                  </a:txBody>
                  <a:tcPr>
                    <a:solidFill>
                      <a:srgbClr val="F2EDE4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540000" y="2700000"/>
            <a:ext cx="1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E8A835"/>
                </a:solidFill>
                <a:latin typeface="Calibri"/>
              </a:rP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40000" y="3780000"/>
            <a:ext cx="216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B5EA7"/>
                </a:solidFill>
                <a:latin typeface="Calibri"/>
              </a:rPr>
              <a:t>El AF busca
relaciones entre
la conducta
y su contexto.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8000" y="4968000"/>
            <a:ext cx="10537200" cy="38100"/>
          </a:xfrm>
          <a:prstGeom prst="rect">
            <a:avLst/>
          </a:prstGeom>
          <a:solidFill>
            <a:srgbClr val="E8A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8000" y="5112000"/>
            <a:ext cx="10537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2B5EA7"/>
                </a:solidFill>
                <a:latin typeface="Calibri"/>
              </a:rPr>
              <a:t>El diagnóstico es necesario para la administración clínica — pero no explica las CAUSAS ni permite intervenir.</a:t>
            </a:r>
          </a:p>
        </p:txBody>
      </p:sp>
      <p:pic>
        <p:nvPicPr>
          <p:cNvPr id="10" name="Picture 9" descr="claro sin fo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0" y="108000"/>
            <a:ext cx="1440000" cy="792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8000" y="6462000"/>
            <a:ext cx="79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88888"/>
                </a:solidFill>
                <a:latin typeface="Calibri"/>
              </a:rPr>
              <a:t>Lic. Jean Clemotte  |  @Psico_Educa20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D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180000"/>
            <a:ext cx="79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B5EA7"/>
                </a:solidFill>
                <a:latin typeface="Calibri"/>
              </a:rPr>
              <a:t>BLOQUE 01 — ¿QUÉ ES EL AF?</a:t>
            </a:r>
          </a:p>
        </p:txBody>
      </p:sp>
      <p:sp>
        <p:nvSpPr>
          <p:cNvPr id="3" name="Rectangle 2"/>
          <p:cNvSpPr/>
          <p:nvPr/>
        </p:nvSpPr>
        <p:spPr>
          <a:xfrm>
            <a:off x="648000" y="468000"/>
            <a:ext cx="7920000" cy="12700"/>
          </a:xfrm>
          <a:prstGeom prst="rect">
            <a:avLst/>
          </a:prstGeom>
          <a:solidFill>
            <a:srgbClr val="2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8000" y="612000"/>
            <a:ext cx="90972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E3A5F"/>
                </a:solidFill>
                <a:latin typeface="Georgia"/>
              </a:rPr>
              <a:t>Lo que importa no es cómo se ve, sino para qué sirve.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1440000"/>
            <a:ext cx="108972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5EA7"/>
                </a:solidFill>
                <a:latin typeface="Calibri"/>
              </a:rPr>
              <a:t>Bart quiere evitar ir a la escuela...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8000" y="1980000"/>
            <a:ext cx="2035440" cy="1080000"/>
          </a:xfrm>
          <a:prstGeom prst="roundRect">
            <a:avLst/>
          </a:prstGeom>
          <a:solidFill>
            <a:srgbClr val="E4EEF8"/>
          </a:solidFill>
          <a:ln w="12700">
            <a:solidFill>
              <a:srgbClr val="2B5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1E3A5F"/>
                </a:solidFill>
                <a:latin typeface="Calibri"/>
              </a:rPr>
              <a:t>Dice que
le duele
la panza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27440" y="1980000"/>
            <a:ext cx="2035440" cy="1080000"/>
          </a:xfrm>
          <a:prstGeom prst="roundRect">
            <a:avLst/>
          </a:prstGeom>
          <a:solidFill>
            <a:srgbClr val="E4EEF8"/>
          </a:solidFill>
          <a:ln w="12700">
            <a:solidFill>
              <a:srgbClr val="2B5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1E3A5F"/>
                </a:solidFill>
                <a:latin typeface="Calibri"/>
              </a:rPr>
              <a:t>Esconde
la mochila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06880" y="1980000"/>
            <a:ext cx="2035440" cy="1080000"/>
          </a:xfrm>
          <a:prstGeom prst="roundRect">
            <a:avLst/>
          </a:prstGeom>
          <a:solidFill>
            <a:srgbClr val="E4EEF8"/>
          </a:solidFill>
          <a:ln w="12700">
            <a:solidFill>
              <a:srgbClr val="2B5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1E3A5F"/>
                </a:solidFill>
                <a:latin typeface="Calibri"/>
              </a:rPr>
              <a:t>Hace una
rabieta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86320" y="1980000"/>
            <a:ext cx="2035440" cy="1080000"/>
          </a:xfrm>
          <a:prstGeom prst="roundRect">
            <a:avLst/>
          </a:prstGeom>
          <a:solidFill>
            <a:srgbClr val="E4EEF8"/>
          </a:solidFill>
          <a:ln w="12700">
            <a:solidFill>
              <a:srgbClr val="2B5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1E3A5F"/>
                </a:solidFill>
                <a:latin typeface="Calibri"/>
              </a:rPr>
              <a:t>Llora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5760" y="1980000"/>
            <a:ext cx="2035440" cy="1080000"/>
          </a:xfrm>
          <a:prstGeom prst="roundRect">
            <a:avLst/>
          </a:prstGeom>
          <a:solidFill>
            <a:srgbClr val="E4EEF8"/>
          </a:solidFill>
          <a:ln w="12700">
            <a:solidFill>
              <a:srgbClr val="2B5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1E3A5F"/>
                </a:solidFill>
                <a:latin typeface="Calibri"/>
              </a:rPr>
              <a:t>Hace el
trabajo mal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000" y="3420000"/>
            <a:ext cx="54486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E3A5F"/>
                </a:solidFill>
                <a:latin typeface="Calibri"/>
              </a:rPr>
              <a:t>5 morfologías distintas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600" y="3348000"/>
            <a:ext cx="9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E8A835"/>
                </a:solidFill>
                <a:latin typeface="Calibr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76600" y="3168000"/>
            <a:ext cx="3240000" cy="90000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5F0DC"/>
                </a:solidFill>
                <a:latin typeface="Calibri"/>
              </a:rPr>
              <a:t>1 función:
escapar de la escuela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8000" y="4608000"/>
            <a:ext cx="10537200" cy="38100"/>
          </a:xfrm>
          <a:prstGeom prst="rect">
            <a:avLst/>
          </a:prstGeom>
          <a:solidFill>
            <a:srgbClr val="4AB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000" y="4752000"/>
            <a:ext cx="105372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2B5EA7"/>
                </a:solidFill>
                <a:latin typeface="Georgia"/>
              </a:rPr>
              <a:t>"El AF no pregunta cómo se ve la conducta, sino qué función cumple en ese contexto."</a:t>
            </a:r>
          </a:p>
        </p:txBody>
      </p:sp>
      <p:pic>
        <p:nvPicPr>
          <p:cNvPr id="16" name="Picture 15" descr="claro sin fo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0" y="108000"/>
            <a:ext cx="1440000" cy="792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48000" y="6462000"/>
            <a:ext cx="79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88888"/>
                </a:solidFill>
                <a:latin typeface="Calibri"/>
              </a:rPr>
              <a:t>Lic. Jean Clemotte  |  @Psico_Educa20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D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180000"/>
            <a:ext cx="79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B5EA7"/>
                </a:solidFill>
                <a:latin typeface="Calibri"/>
              </a:rPr>
              <a:t>BLOQUE 01 — ¿QUÉ ES EL AF?</a:t>
            </a:r>
          </a:p>
        </p:txBody>
      </p:sp>
      <p:sp>
        <p:nvSpPr>
          <p:cNvPr id="3" name="Rectangle 2"/>
          <p:cNvSpPr/>
          <p:nvPr/>
        </p:nvSpPr>
        <p:spPr>
          <a:xfrm>
            <a:off x="648000" y="468000"/>
            <a:ext cx="7920000" cy="12700"/>
          </a:xfrm>
          <a:prstGeom prst="rect">
            <a:avLst/>
          </a:prstGeom>
          <a:solidFill>
            <a:srgbClr val="2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8000" y="612000"/>
            <a:ext cx="90972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E3A5F"/>
                </a:solidFill>
                <a:latin typeface="Georgia"/>
              </a:rPr>
              <a:t>Antes de empezar: 4 supuestos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8000" y="1512000"/>
            <a:ext cx="5232600" cy="1908000"/>
          </a:xfrm>
          <a:prstGeom prst="rect">
            <a:avLst/>
          </a:prstGeom>
          <a:solidFill>
            <a:srgbClr val="E4EEF8"/>
          </a:solidFill>
          <a:ln w="25400">
            <a:solidFill>
              <a:srgbClr val="E8A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2000" y="1620000"/>
            <a:ext cx="7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8A835"/>
                </a:solidFill>
                <a:latin typeface="Georgia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000" y="2088000"/>
            <a:ext cx="49446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  <a:latin typeface="Calibri"/>
              </a:rPr>
              <a:t>Analiza CUALQUIER conducta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000" y="2556000"/>
            <a:ext cx="49446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B5EA7"/>
                </a:solidFill>
                <a:latin typeface="Calibri"/>
              </a:rPr>
              <a:t>Incluyendo pensamientos, emociones y conductas encubiertas</a:t>
            </a:r>
          </a:p>
        </p:txBody>
      </p:sp>
      <p:sp>
        <p:nvSpPr>
          <p:cNvPr id="9" name="Rectangle 8"/>
          <p:cNvSpPr/>
          <p:nvPr/>
        </p:nvSpPr>
        <p:spPr>
          <a:xfrm>
            <a:off x="6168600" y="1512000"/>
            <a:ext cx="5232600" cy="1908000"/>
          </a:xfrm>
          <a:prstGeom prst="rect">
            <a:avLst/>
          </a:prstGeom>
          <a:solidFill>
            <a:srgbClr val="E4EEF8"/>
          </a:solidFill>
          <a:ln w="25400">
            <a:solidFill>
              <a:srgbClr val="4AB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12600" y="1620000"/>
            <a:ext cx="7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ABFB0"/>
                </a:solidFill>
                <a:latin typeface="Georgia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12600" y="2088000"/>
            <a:ext cx="49446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  <a:latin typeface="Calibri"/>
              </a:rPr>
              <a:t>Las conductas son ADAPTATIVAS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12600" y="2556000"/>
            <a:ext cx="49446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B5EA7"/>
                </a:solidFill>
                <a:latin typeface="Calibri"/>
              </a:rPr>
              <a:t>A corto plazo. El problema es que dejan de funcionar a largo plazo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8000" y="3600000"/>
            <a:ext cx="5232600" cy="1908000"/>
          </a:xfrm>
          <a:prstGeom prst="rect">
            <a:avLst/>
          </a:prstGeom>
          <a:solidFill>
            <a:srgbClr val="E4EEF8"/>
          </a:solidFill>
          <a:ln w="25400">
            <a:solidFill>
              <a:srgbClr val="E8A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2000" y="3708000"/>
            <a:ext cx="7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8A835"/>
                </a:solidFill>
                <a:latin typeface="Georgia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2000" y="4176000"/>
            <a:ext cx="49446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  <a:latin typeface="Calibri"/>
              </a:rPr>
              <a:t>Las leyes son UNIVERSALES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000" y="4644000"/>
            <a:ext cx="49446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B5EA7"/>
                </a:solidFill>
                <a:latin typeface="Calibri"/>
              </a:rPr>
              <a:t>Aplican igual en Paraguay, España o cualquier parte del mundo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68600" y="3600000"/>
            <a:ext cx="5232600" cy="1908000"/>
          </a:xfrm>
          <a:prstGeom prst="rect">
            <a:avLst/>
          </a:prstGeom>
          <a:solidFill>
            <a:srgbClr val="E4EEF8"/>
          </a:solidFill>
          <a:ln w="25400">
            <a:solidFill>
              <a:srgbClr val="4AB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12600" y="3708000"/>
            <a:ext cx="7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ABFB0"/>
                </a:solidFill>
                <a:latin typeface="Georgia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12600" y="4176000"/>
            <a:ext cx="49446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  <a:latin typeface="Calibri"/>
              </a:rPr>
              <a:t>Considera MUCHAS variables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12600" y="4644000"/>
            <a:ext cx="49446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B5EA7"/>
                </a:solidFill>
                <a:latin typeface="Calibri"/>
              </a:rPr>
              <a:t>Biológicas, psicológicas, históricas y contextuales</a:t>
            </a:r>
          </a:p>
        </p:txBody>
      </p:sp>
      <p:pic>
        <p:nvPicPr>
          <p:cNvPr id="21" name="Picture 20" descr="claro sin fo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0" y="108000"/>
            <a:ext cx="1440000" cy="7920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48000" y="6462000"/>
            <a:ext cx="79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88888"/>
                </a:solidFill>
                <a:latin typeface="Calibri"/>
              </a:rPr>
              <a:t>Lic. Jean Clemotte  |  @Psico_Educa20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1080000"/>
            <a:ext cx="180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 i="0">
                <a:solidFill>
                  <a:srgbClr val="E8A835"/>
                </a:solidFill>
                <a:latin typeface="Georgia"/>
              </a:rPr>
              <a:t>02</a:t>
            </a:r>
          </a:p>
        </p:txBody>
      </p:sp>
      <p:sp>
        <p:nvSpPr>
          <p:cNvPr id="3" name="Rectangle 2"/>
          <p:cNvSpPr/>
          <p:nvPr/>
        </p:nvSpPr>
        <p:spPr>
          <a:xfrm>
            <a:off x="2736000" y="2340000"/>
            <a:ext cx="7200000" cy="38100"/>
          </a:xfrm>
          <a:prstGeom prst="rect">
            <a:avLst/>
          </a:prstGeom>
          <a:solidFill>
            <a:srgbClr val="E8A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36000" y="2592000"/>
            <a:ext cx="83772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5F0DC"/>
                </a:solidFill>
                <a:latin typeface="Georgia"/>
              </a:rPr>
              <a:t>Las leyes
del aprendizaje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36000" y="4500000"/>
            <a:ext cx="83772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A9FE0"/>
                </a:solidFill>
                <a:latin typeface="Calibri"/>
              </a:rPr>
              <a:t>Habituación  •  CC  •  CO  •  Ed  •  Variables</a:t>
            </a:r>
          </a:p>
        </p:txBody>
      </p:sp>
      <p:pic>
        <p:nvPicPr>
          <p:cNvPr id="6" name="Picture 5" descr="oscuro sin fo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0" y="108000"/>
            <a:ext cx="1440000" cy="79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8000" y="6462000"/>
            <a:ext cx="79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5F0DC"/>
                </a:solidFill>
                <a:latin typeface="Calibri"/>
              </a:rPr>
              <a:t>Lic. Jean Clemotte  |  @Psico_Educa20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D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180000"/>
            <a:ext cx="79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B5EA7"/>
                </a:solidFill>
                <a:latin typeface="Calibri"/>
              </a:rPr>
              <a:t>BLOQUE 02 — LAS LEYES DEL APRENDIZAJE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8000" y="468000"/>
            <a:ext cx="7920000" cy="12700"/>
          </a:xfrm>
          <a:prstGeom prst="rect">
            <a:avLst/>
          </a:prstGeom>
          <a:solidFill>
            <a:srgbClr val="2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8000" y="612000"/>
            <a:ext cx="90972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E3A5F"/>
                </a:solidFill>
                <a:latin typeface="Georgia"/>
              </a:rPr>
              <a:t>Habituación y Sensibilización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8000" y="1512000"/>
            <a:ext cx="5232600" cy="503999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E8A835"/>
                </a:solidFill>
                <a:latin typeface="Calibri"/>
              </a:rPr>
              <a:t>HABITUACIÓN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8000" y="2124000"/>
            <a:ext cx="5232600" cy="30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3A5F"/>
                </a:solidFill>
                <a:latin typeface="Calibri"/>
              </a:rPr>
              <a:t>La respuesta BAJA con la exposición repetida.</a:t>
            </a:r>
          </a:p>
          <a:p>
            <a:pPr algn="l"/>
            <a:r>
              <a:rPr sz="1400" b="0" i="0">
                <a:solidFill>
                  <a:srgbClr val="2B5EA7"/>
                </a:solidFill>
                <a:latin typeface="Calibri"/>
              </a:rPr>
              <a:t>→ El estímulo pierde fuerza</a:t>
            </a:r>
          </a:p>
          <a:p>
            <a:pPr algn="l"/>
            <a:r>
              <a:rPr sz="1400">
                <a:solidFill>
                  <a:srgbClr val="1E3A5F"/>
                </a:solidFill>
                <a:latin typeface="Calibri"/>
              </a:rPr>
              <a:t> </a:t>
            </a:r>
          </a:p>
          <a:p>
            <a:pPr algn="l"/>
            <a:r>
              <a:rPr sz="1400" b="0" i="1">
                <a:solidFill>
                  <a:srgbClr val="1E3A5F"/>
                </a:solidFill>
                <a:latin typeface="Calibri"/>
              </a:rPr>
              <a:t>Ej: Dejar de oír el ruido del AC de la oficina</a:t>
            </a:r>
          </a:p>
          <a:p>
            <a:pPr algn="l"/>
            <a:r>
              <a:rPr sz="1400" b="0" i="1">
                <a:solidFill>
                  <a:srgbClr val="1E3A5F"/>
                </a:solidFill>
                <a:latin typeface="Calibri"/>
              </a:rPr>
              <a:t>Ej: No notar el olor a tereré en la sala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68600" y="1512000"/>
            <a:ext cx="5232600" cy="503999"/>
          </a:xfrm>
          <a:prstGeom prst="roundRect">
            <a:avLst/>
          </a:prstGeom>
          <a:solidFill>
            <a:srgbClr val="2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4ABFB0"/>
                </a:solidFill>
                <a:latin typeface="Calibri"/>
              </a:rPr>
              <a:t>SENSIBILIZACIÓN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68600" y="2124000"/>
            <a:ext cx="5232600" cy="30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3A5F"/>
                </a:solidFill>
                <a:latin typeface="Calibri"/>
              </a:rPr>
              <a:t>La respuesta SUBE con la exposición repetida.</a:t>
            </a:r>
          </a:p>
          <a:p>
            <a:pPr algn="l"/>
            <a:r>
              <a:rPr sz="1400" b="0" i="0">
                <a:solidFill>
                  <a:srgbClr val="2B5EA7"/>
                </a:solidFill>
                <a:latin typeface="Calibri"/>
              </a:rPr>
              <a:t>→ El estímulo gana fuerza</a:t>
            </a:r>
          </a:p>
          <a:p>
            <a:pPr algn="l"/>
            <a:r>
              <a:rPr sz="1400">
                <a:solidFill>
                  <a:srgbClr val="1E3A5F"/>
                </a:solidFill>
                <a:latin typeface="Calibri"/>
              </a:rPr>
              <a:t> </a:t>
            </a:r>
          </a:p>
          <a:p>
            <a:pPr algn="l"/>
            <a:r>
              <a:rPr sz="1400" b="0" i="1">
                <a:solidFill>
                  <a:srgbClr val="1E3A5F"/>
                </a:solidFill>
                <a:latin typeface="Calibri"/>
              </a:rPr>
              <a:t>Ej: Golpecitos que se sienten cada vez más fuertes</a:t>
            </a:r>
          </a:p>
          <a:p>
            <a:pPr algn="l"/>
            <a:r>
              <a:rPr sz="1400" b="0" i="1">
                <a:solidFill>
                  <a:srgbClr val="1E3A5F"/>
                </a:solidFill>
                <a:latin typeface="Calibri"/>
              </a:rPr>
              <a:t>Ej: Ruido que parece cada vez más intenso</a:t>
            </a:r>
          </a:p>
        </p:txBody>
      </p:sp>
      <p:sp>
        <p:nvSpPr>
          <p:cNvPr id="9" name="Rectangle 8"/>
          <p:cNvSpPr/>
          <p:nvPr/>
        </p:nvSpPr>
        <p:spPr>
          <a:xfrm>
            <a:off x="648000" y="5508000"/>
            <a:ext cx="10537200" cy="38100"/>
          </a:xfrm>
          <a:prstGeom prst="rect">
            <a:avLst/>
          </a:prstGeom>
          <a:solidFill>
            <a:srgbClr val="E8A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8000" y="5652000"/>
            <a:ext cx="105372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B5EA7"/>
                </a:solidFill>
                <a:latin typeface="Calibri"/>
              </a:rPr>
              <a:t>⚠  Habituación ≠ "acostumbrarse"  (eso es condicionamiento operante)</a:t>
            </a:r>
          </a:p>
        </p:txBody>
      </p:sp>
      <p:pic>
        <p:nvPicPr>
          <p:cNvPr id="11" name="Picture 10" descr="claro sin fo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0" y="108000"/>
            <a:ext cx="1440000" cy="792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8000" y="6462000"/>
            <a:ext cx="79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88888"/>
                </a:solidFill>
                <a:latin typeface="Calibri"/>
              </a:rPr>
              <a:t>Lic. Jean Clemotte  |  @Psico_Educa20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D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180000"/>
            <a:ext cx="79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B5EA7"/>
                </a:solidFill>
                <a:latin typeface="Calibri"/>
              </a:rPr>
              <a:t>BLOQUE 02 — LAS LEYES DEL APRENDIZAJE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8000" y="468000"/>
            <a:ext cx="7920000" cy="12700"/>
          </a:xfrm>
          <a:prstGeom prst="rect">
            <a:avLst/>
          </a:prstGeom>
          <a:solidFill>
            <a:srgbClr val="2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8000" y="612000"/>
            <a:ext cx="90972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E3A5F"/>
                </a:solidFill>
                <a:latin typeface="Georgia"/>
              </a:rPr>
              <a:t>Condicionamiento Clásico: aprender a reaccionar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8000" y="1440000"/>
          <a:ext cx="8640000" cy="39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000"/>
                <a:gridCol w="2160000"/>
                <a:gridCol w="2160000"/>
                <a:gridCol w="2160000"/>
              </a:tblGrid>
              <a:tr h="56571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5F0DC"/>
                          </a:solidFill>
                          <a:latin typeface="Calibri"/>
                        </a:rPr>
                        <a:t>Momento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5F0DC"/>
                          </a:solidFill>
                          <a:latin typeface="Calibri"/>
                        </a:rPr>
                        <a:t>Estímulo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5F0DC"/>
                          </a:solidFill>
                          <a:latin typeface="Calibri"/>
                        </a:rPr>
                        <a:t>Respuesta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56571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3A5F"/>
                          </a:solidFill>
                          <a:latin typeface="Calibri"/>
                        </a:rPr>
                        <a:t>ANTES</a:t>
                      </a:r>
                    </a:p>
                  </a:txBody>
                  <a:tcPr>
                    <a:solidFill>
                      <a:srgbClr val="F2ED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3A5F"/>
                          </a:solidFill>
                          <a:latin typeface="Calibri"/>
                        </a:rPr>
                        <a:t>Super Stock (neutro)</a:t>
                      </a:r>
                    </a:p>
                  </a:txBody>
                  <a:tcPr>
                    <a:solidFill>
                      <a:srgbClr val="F2ED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3A5F"/>
                          </a:solidFill>
                          <a:latin typeface="Calibri"/>
                        </a:rPr>
                        <a:t>→</a:t>
                      </a:r>
                    </a:p>
                  </a:txBody>
                  <a:tcPr>
                    <a:solidFill>
                      <a:srgbClr val="F2ED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3A5F"/>
                          </a:solidFill>
                          <a:latin typeface="Calibri"/>
                        </a:rPr>
                        <a:t>Sin respuesta de ansiedad</a:t>
                      </a:r>
                    </a:p>
                  </a:txBody>
                  <a:tcPr>
                    <a:solidFill>
                      <a:srgbClr val="F2EDE4"/>
                    </a:solidFill>
                  </a:tcPr>
                </a:tc>
              </a:tr>
              <a:tr h="565714"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>
                    <a:solidFill>
                      <a:srgbClr val="E0DB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3A5F"/>
                          </a:solidFill>
                          <a:latin typeface="Calibri"/>
                        </a:rPr>
                        <a:t>Asalto en el Super Stock (EI)</a:t>
                      </a:r>
                    </a:p>
                  </a:txBody>
                  <a:tcPr>
                    <a:solidFill>
                      <a:srgbClr val="E0DB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3A5F"/>
                          </a:solidFill>
                          <a:latin typeface="Calibri"/>
                        </a:rPr>
                        <a:t>→</a:t>
                      </a:r>
                    </a:p>
                  </a:txBody>
                  <a:tcPr>
                    <a:solidFill>
                      <a:srgbClr val="E0DB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3A5F"/>
                          </a:solidFill>
                          <a:latin typeface="Calibri"/>
                        </a:rPr>
                        <a:t>Miedo + taquicardia (RI)</a:t>
                      </a:r>
                    </a:p>
                  </a:txBody>
                  <a:tcPr>
                    <a:solidFill>
                      <a:srgbClr val="E0DBD0"/>
                    </a:solidFill>
                  </a:tcPr>
                </a:tc>
              </a:tr>
              <a:tr h="56571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3A5F"/>
                          </a:solidFill>
                          <a:latin typeface="Calibri"/>
                        </a:rPr>
                        <a:t>DURANTE</a:t>
                      </a:r>
                    </a:p>
                  </a:txBody>
                  <a:tcPr>
                    <a:solidFill>
                      <a:srgbClr val="F2ED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3A5F"/>
                          </a:solidFill>
                          <a:latin typeface="Calibri"/>
                        </a:rPr>
                        <a:t>Super Stock + Asalto (EI)</a:t>
                      </a:r>
                    </a:p>
                  </a:txBody>
                  <a:tcPr>
                    <a:solidFill>
                      <a:srgbClr val="F2ED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3A5F"/>
                          </a:solidFill>
                          <a:latin typeface="Calibri"/>
                        </a:rPr>
                        <a:t>→</a:t>
                      </a:r>
                    </a:p>
                  </a:txBody>
                  <a:tcPr>
                    <a:solidFill>
                      <a:srgbClr val="F2ED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3A5F"/>
                          </a:solidFill>
                          <a:latin typeface="Calibri"/>
                        </a:rPr>
                        <a:t>Miedo + taquicardia (RI)</a:t>
                      </a:r>
                    </a:p>
                  </a:txBody>
                  <a:tcPr>
                    <a:solidFill>
                      <a:srgbClr val="F2EDE4"/>
                    </a:solidFill>
                  </a:tcPr>
                </a:tc>
              </a:tr>
              <a:tr h="565714"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>
                    <a:solidFill>
                      <a:srgbClr val="E0DB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3A5F"/>
                          </a:solidFill>
                          <a:latin typeface="Calibri"/>
                        </a:rPr>
                        <a:t>[Una sola vez — experiencia muy intensa]</a:t>
                      </a:r>
                    </a:p>
                  </a:txBody>
                  <a:tcPr>
                    <a:solidFill>
                      <a:srgbClr val="E0DB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>
                    <a:solidFill>
                      <a:srgbClr val="E0DB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>
                    <a:solidFill>
                      <a:srgbClr val="E0DBD0"/>
                    </a:solidFill>
                  </a:tcPr>
                </a:tc>
              </a:tr>
              <a:tr h="56571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3A5F"/>
                          </a:solidFill>
                          <a:latin typeface="Calibri"/>
                        </a:rPr>
                        <a:t>DESPUÉS</a:t>
                      </a:r>
                    </a:p>
                  </a:txBody>
                  <a:tcPr>
                    <a:solidFill>
                      <a:srgbClr val="F2ED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3A5F"/>
                          </a:solidFill>
                          <a:latin typeface="Calibri"/>
                        </a:rPr>
                        <a:t>Super Stock (EC)</a:t>
                      </a:r>
                    </a:p>
                  </a:txBody>
                  <a:tcPr>
                    <a:solidFill>
                      <a:srgbClr val="F2ED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3A5F"/>
                          </a:solidFill>
                          <a:latin typeface="Calibri"/>
                        </a:rPr>
                        <a:t>→</a:t>
                      </a:r>
                    </a:p>
                  </a:txBody>
                  <a:tcPr>
                    <a:solidFill>
                      <a:srgbClr val="F2ED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3A5F"/>
                          </a:solidFill>
                          <a:latin typeface="Calibri"/>
                        </a:rPr>
                        <a:t>Miedo + taquicardia (RC)</a:t>
                      </a:r>
                    </a:p>
                  </a:txBody>
                  <a:tcPr>
                    <a:solidFill>
                      <a:srgbClr val="F2EDE4"/>
                    </a:solidFill>
                  </a:tcPr>
                </a:tc>
              </a:tr>
              <a:tr h="565716"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>
                    <a:solidFill>
                      <a:srgbClr val="E0DB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3A5F"/>
                          </a:solidFill>
                          <a:latin typeface="Calibri"/>
                        </a:rPr>
                        <a:t>↓ generalización: cualquier supermercado (EC)</a:t>
                      </a:r>
                    </a:p>
                  </a:txBody>
                  <a:tcPr>
                    <a:solidFill>
                      <a:srgbClr val="E0DB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3A5F"/>
                          </a:solidFill>
                          <a:latin typeface="Calibri"/>
                        </a:rPr>
                        <a:t>→</a:t>
                      </a:r>
                    </a:p>
                  </a:txBody>
                  <a:tcPr>
                    <a:solidFill>
                      <a:srgbClr val="E0DB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3A5F"/>
                          </a:solidFill>
                          <a:latin typeface="Calibri"/>
                        </a:rPr>
                        <a:t>Miedo (RC)</a:t>
                      </a:r>
                    </a:p>
                  </a:txBody>
                  <a:tcPr>
                    <a:solidFill>
                      <a:srgbClr val="E0DBD0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9540000" y="1980000"/>
            <a:ext cx="2340000" cy="1440000"/>
          </a:xfrm>
          <a:prstGeom prst="roundRect">
            <a:avLst/>
          </a:prstGeom>
          <a:solidFill>
            <a:srgbClr val="FFF0D8"/>
          </a:solidFill>
          <a:ln w="12700">
            <a:solidFill>
              <a:srgbClr val="E8A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0">
                <a:solidFill>
                  <a:srgbClr val="1E3A5F"/>
                </a:solidFill>
                <a:latin typeface="Calibri"/>
              </a:rPr>
              <a:t>EI = estímulo biológicamente amenazante.
El pánico es la RI,
no el EI.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" y="5688000"/>
            <a:ext cx="105372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2B5EA7"/>
                </a:solidFill>
                <a:latin typeface="Calibri"/>
              </a:rPr>
              <a:t>Las conductas respondientes ocurren POR algo — no dependen de lo que haga el organismo después.</a:t>
            </a:r>
          </a:p>
        </p:txBody>
      </p:sp>
      <p:pic>
        <p:nvPicPr>
          <p:cNvPr id="8" name="Picture 7" descr="claro sin fo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0" y="108000"/>
            <a:ext cx="1440000" cy="792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8000" y="6462000"/>
            <a:ext cx="79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88888"/>
                </a:solidFill>
                <a:latin typeface="Calibri"/>
              </a:rPr>
              <a:t>Lic. Jean Clemotte  |  @Psico_Educa20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D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180000"/>
            <a:ext cx="79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B5EA7"/>
                </a:solidFill>
                <a:latin typeface="Calibri"/>
              </a:rPr>
              <a:t>BLOQUE 02 — LAS LEYES DEL APRENDIZAJE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8000" y="468000"/>
            <a:ext cx="7920000" cy="12700"/>
          </a:xfrm>
          <a:prstGeom prst="rect">
            <a:avLst/>
          </a:prstGeom>
          <a:solidFill>
            <a:srgbClr val="2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8000" y="612000"/>
            <a:ext cx="90972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E3A5F"/>
                </a:solidFill>
                <a:latin typeface="Georgia"/>
              </a:rPr>
              <a:t>Triple Contingencia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8000" y="1440000"/>
            <a:ext cx="3168000" cy="2520000"/>
          </a:xfrm>
          <a:prstGeom prst="roundRect">
            <a:avLst/>
          </a:prstGeom>
          <a:solidFill>
            <a:srgbClr val="E4EEF8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1E3A5F"/>
                </a:solidFill>
                <a:latin typeface="Calibri"/>
              </a:rPr>
              <a:t>ANTECEDENTE
(Señal)
Homero dice:
"¿Vamos al
Super Stock?"
(Ed)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52000" y="2448001"/>
            <a:ext cx="39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E8A835"/>
                </a:solidFill>
                <a:latin typeface="Calibri"/>
              </a:rPr>
              <a:t>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12000" y="1440000"/>
            <a:ext cx="3168000" cy="2520000"/>
          </a:xfrm>
          <a:prstGeom prst="roundRect">
            <a:avLst/>
          </a:prstGeom>
          <a:solidFill>
            <a:srgbClr val="E4EEF8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1E3A5F"/>
                </a:solidFill>
                <a:latin typeface="Calibri"/>
              </a:rPr>
              <a:t>RESPUESTA
(Lo que hace)
"Me duele
la cabeza,
no puedo ir."
(Operante)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16000" y="2448001"/>
            <a:ext cx="39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E8A835"/>
                </a:solidFill>
                <a:latin typeface="Calibri"/>
              </a:rPr>
              <a:t>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6000" y="1440000"/>
            <a:ext cx="3168000" cy="2520000"/>
          </a:xfrm>
          <a:prstGeom prst="roundRect">
            <a:avLst/>
          </a:prstGeom>
          <a:solidFill>
            <a:srgbClr val="E4EEF8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1E3A5F"/>
                </a:solidFill>
                <a:latin typeface="Calibri"/>
              </a:rPr>
              <a:t>CONSECUENTE
(Lo que pasa)
Homero va solo.
Marge en casa.
Desaparece
la ansiedad.
(RN)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8000" y="4428000"/>
            <a:ext cx="10537200" cy="38100"/>
          </a:xfrm>
          <a:prstGeom prst="rect">
            <a:avLst/>
          </a:prstGeom>
          <a:solidFill>
            <a:srgbClr val="4AB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8000" y="4572000"/>
            <a:ext cx="105372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2B5EA7"/>
                </a:solidFill>
                <a:latin typeface="Calibri"/>
              </a:rPr>
              <a:t>Las conductas operantes ocurren PARA algo — la historia de consecuencias determina si se repiten.</a:t>
            </a:r>
          </a:p>
        </p:txBody>
      </p:sp>
      <p:pic>
        <p:nvPicPr>
          <p:cNvPr id="12" name="Picture 11" descr="claro sin fo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0" y="108000"/>
            <a:ext cx="1440000" cy="792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8000" y="6462000"/>
            <a:ext cx="79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88888"/>
                </a:solidFill>
                <a:latin typeface="Calibri"/>
              </a:rPr>
              <a:t>Lic. Jean Clemotte  |  @Psico_Educa20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D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180000"/>
            <a:ext cx="79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B5EA7"/>
                </a:solidFill>
                <a:latin typeface="Calibri"/>
              </a:rPr>
              <a:t>BLOQUE 02 — LAS LEYES DEL APRENDIZAJE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8000" y="468000"/>
            <a:ext cx="7920000" cy="12700"/>
          </a:xfrm>
          <a:prstGeom prst="rect">
            <a:avLst/>
          </a:prstGeom>
          <a:solidFill>
            <a:srgbClr val="2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8000" y="612000"/>
            <a:ext cx="90972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E3A5F"/>
                </a:solidFill>
                <a:latin typeface="Georgia"/>
              </a:rPr>
              <a:t>Antecedente vs Estímulo Discriminativo (Ed)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8000" y="1512000"/>
            <a:ext cx="5232600" cy="468000"/>
          </a:xfrm>
          <a:prstGeom prst="roundRect">
            <a:avLst/>
          </a:prstGeom>
          <a:solidFill>
            <a:srgbClr val="E4EEF8"/>
          </a:solidFill>
          <a:ln w="12700">
            <a:solidFill>
              <a:srgbClr val="2B5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E3A5F"/>
                </a:solidFill>
                <a:latin typeface="Calibri"/>
              </a:rPr>
              <a:t>ANTECEDENTE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8000" y="2088000"/>
            <a:ext cx="52326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B5EA7"/>
                </a:solidFill>
                <a:latin typeface="Calibri"/>
              </a:rPr>
              <a:t>Concepto DESCRIPTIVO</a:t>
            </a:r>
          </a:p>
          <a:p>
            <a:pPr algn="l"/>
            <a:r>
              <a:rPr sz="1400">
                <a:solidFill>
                  <a:srgbClr val="1E3A5F"/>
                </a:solidFill>
                <a:latin typeface="Calibri"/>
              </a:rPr>
              <a:t>Solo indica relación temporal.</a:t>
            </a:r>
          </a:p>
          <a:p>
            <a:pPr algn="l"/>
            <a:r>
              <a:rPr sz="1400">
                <a:solidFill>
                  <a:srgbClr val="1E3A5F"/>
                </a:solidFill>
                <a:latin typeface="Calibri"/>
              </a:rPr>
              <a:t>El estímulo está ANTES de la conducta.</a:t>
            </a:r>
          </a:p>
          <a:p>
            <a:pPr algn="l"/>
            <a:r>
              <a:rPr sz="1400">
                <a:solidFill>
                  <a:srgbClr val="1E3A5F"/>
                </a:solidFill>
                <a:latin typeface="Calibri"/>
              </a:rPr>
              <a:t> </a:t>
            </a:r>
          </a:p>
          <a:p>
            <a:pPr algn="l"/>
            <a:r>
              <a:rPr sz="1300" b="0" i="1">
                <a:solidFill>
                  <a:srgbClr val="2B5EA7"/>
                </a:solidFill>
                <a:latin typeface="Calibri"/>
              </a:rPr>
              <a:t>No dice nada sobre si hay reforzador disponible.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68600" y="1512000"/>
            <a:ext cx="5232600" cy="46800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5F0DC"/>
                </a:solidFill>
                <a:latin typeface="Calibri"/>
              </a:rPr>
              <a:t>ESTÍMULO DISCRIMINATIVO (Ed)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68600" y="2088000"/>
            <a:ext cx="5232600" cy="3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A835"/>
                </a:solidFill>
                <a:latin typeface="Calibri"/>
              </a:rPr>
              <a:t>Concepto FUNCIONAL</a:t>
            </a:r>
          </a:p>
          <a:p>
            <a:pPr algn="l"/>
            <a:r>
              <a:rPr sz="1400">
                <a:solidFill>
                  <a:srgbClr val="1E3A5F"/>
                </a:solidFill>
                <a:latin typeface="Calibri"/>
              </a:rPr>
              <a:t>Señala que si emito esta respuesta,</a:t>
            </a:r>
          </a:p>
          <a:p>
            <a:pPr algn="l"/>
            <a:r>
              <a:rPr sz="1400" b="1" i="0">
                <a:solidFill>
                  <a:srgbClr val="1E3A5F"/>
                </a:solidFill>
                <a:latin typeface="Calibri"/>
              </a:rPr>
              <a:t>hay probabilidad de obtener el reforzador.</a:t>
            </a:r>
          </a:p>
          <a:p>
            <a:pPr algn="l"/>
            <a:r>
              <a:rPr sz="1400">
                <a:solidFill>
                  <a:srgbClr val="1E3A5F"/>
                </a:solidFill>
                <a:latin typeface="Calibri"/>
              </a:rPr>
              <a:t> </a:t>
            </a:r>
          </a:p>
          <a:p>
            <a:pPr algn="l"/>
            <a:r>
              <a:rPr sz="1300" b="0" i="1">
                <a:solidFill>
                  <a:srgbClr val="4ABFB0"/>
                </a:solidFill>
                <a:latin typeface="Calibri"/>
              </a:rPr>
              <a:t>Ed+ — Homero de buen humor → pedir permiso</a:t>
            </a:r>
          </a:p>
          <a:p>
            <a:pPr algn="l"/>
            <a:r>
              <a:rPr sz="1300" b="0" i="1">
                <a:solidFill>
                  <a:srgbClr val="E8A835"/>
                </a:solidFill>
                <a:latin typeface="Calibri"/>
              </a:rPr>
              <a:t>Ed− — Homero de mal humor → mejor no pedir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000" y="5616000"/>
            <a:ext cx="105372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1">
                <a:solidFill>
                  <a:srgbClr val="2B5EA7"/>
                </a:solidFill>
                <a:latin typeface="Calibri"/>
              </a:rPr>
              <a:t>No todo lo que ocurre antes es un Ed. El Ed se establece por la historia de aprendizaje.</a:t>
            </a:r>
          </a:p>
        </p:txBody>
      </p:sp>
      <p:pic>
        <p:nvPicPr>
          <p:cNvPr id="10" name="Picture 9" descr="claro sin fo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0" y="108000"/>
            <a:ext cx="1440000" cy="792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8000" y="6462000"/>
            <a:ext cx="79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88888"/>
                </a:solidFill>
                <a:latin typeface="Calibri"/>
              </a:rPr>
              <a:t>Lic. Jean Clemotte  |  @Psico_Educa20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D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180000"/>
            <a:ext cx="79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B5EA7"/>
                </a:solidFill>
                <a:latin typeface="Calibri"/>
              </a:rPr>
              <a:t>BLOQUE 02 — LAS LEYES DEL APRENDIZAJE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8000" y="468000"/>
            <a:ext cx="7920000" cy="12700"/>
          </a:xfrm>
          <a:prstGeom prst="rect">
            <a:avLst/>
          </a:prstGeom>
          <a:solidFill>
            <a:srgbClr val="2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8000" y="612000"/>
            <a:ext cx="90972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E3A5F"/>
                </a:solidFill>
                <a:latin typeface="Georgia"/>
              </a:rPr>
              <a:t>4 procedimientos operantes básicos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8000" y="1512000"/>
          <a:ext cx="10537200" cy="39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2400"/>
                <a:gridCol w="3512400"/>
                <a:gridCol w="3512400"/>
              </a:tblGrid>
              <a:tr h="1320000"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5F0DC"/>
                          </a:solidFill>
                          <a:latin typeface="Calibri"/>
                        </a:rPr>
                        <a:t>APARECE algo después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5F0DC"/>
                          </a:solidFill>
                          <a:latin typeface="Calibri"/>
                        </a:rPr>
                        <a:t>DESAPARECE algo después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13200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3A5F"/>
                          </a:solidFill>
                          <a:latin typeface="Calibri"/>
                        </a:rPr>
                        <a:t>La R</a:t>
                      </a:r>
                    </a:p>
                    <a:p>
                      <a:pPr algn="l"/>
                      <a:r>
                        <a:rPr sz="1400" b="0">
                          <a:solidFill>
                            <a:srgbClr val="1E3A5F"/>
                          </a:solidFill>
                          <a:latin typeface="Calibri"/>
                        </a:rPr>
                        <a:t>SUBE</a:t>
                      </a:r>
                    </a:p>
                  </a:txBody>
                  <a:tcPr>
                    <a:solidFill>
                      <a:srgbClr val="F2ED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3A5F"/>
                          </a:solidFill>
                          <a:latin typeface="Calibri"/>
                        </a:rPr>
                        <a:t>Reforzamiento POSITIVO</a:t>
                      </a:r>
                    </a:p>
                    <a:p>
                      <a:pPr algn="l"/>
                      <a:r>
                        <a:rPr sz="1400" b="0">
                          <a:solidFill>
                            <a:srgbClr val="1E3A5F"/>
                          </a:solidFill>
                          <a:latin typeface="Calibri"/>
                        </a:rPr>
                        <a:t>Marge apaga la TV → Bart grita → Marge la vuelve a prender (cede)</a:t>
                      </a:r>
                    </a:p>
                  </a:txBody>
                  <a:tcPr>
                    <a:solidFill>
                      <a:srgbClr val="F2ED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3A5F"/>
                          </a:solidFill>
                          <a:latin typeface="Calibri"/>
                        </a:rPr>
                        <a:t>Reforzamiento NEGATIVO</a:t>
                      </a:r>
                    </a:p>
                    <a:p>
                      <a:pPr algn="l"/>
                      <a:r>
                        <a:rPr sz="1400" b="0">
                          <a:solidFill>
                            <a:srgbClr val="1E3A5F"/>
                          </a:solidFill>
                          <a:latin typeface="Calibri"/>
                        </a:rPr>
                        <a:t>Marge evita el Super Stock → desaparece el miedo → sigue evitando</a:t>
                      </a:r>
                    </a:p>
                  </a:txBody>
                  <a:tcPr>
                    <a:solidFill>
                      <a:srgbClr val="F2EDE4"/>
                    </a:solidFill>
                  </a:tcPr>
                </a:tc>
              </a:tr>
              <a:tr h="13200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3A5F"/>
                          </a:solidFill>
                          <a:latin typeface="Calibri"/>
                        </a:rPr>
                        <a:t>La R</a:t>
                      </a:r>
                    </a:p>
                    <a:p>
                      <a:pPr algn="l"/>
                      <a:r>
                        <a:rPr sz="1400" b="0">
                          <a:solidFill>
                            <a:srgbClr val="1E3A5F"/>
                          </a:solidFill>
                          <a:latin typeface="Calibri"/>
                        </a:rPr>
                        <a:t>BAJA</a:t>
                      </a:r>
                    </a:p>
                  </a:txBody>
                  <a:tcPr>
                    <a:solidFill>
                      <a:srgbClr val="E0DB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3A5F"/>
                          </a:solidFill>
                          <a:latin typeface="Calibri"/>
                        </a:rPr>
                        <a:t>Castigo POSITIVO</a:t>
                      </a:r>
                    </a:p>
                    <a:p>
                      <a:pPr algn="l"/>
                      <a:r>
                        <a:rPr sz="1400" b="0">
                          <a:solidFill>
                            <a:srgbClr val="1E3A5F"/>
                          </a:solidFill>
                          <a:latin typeface="Calibri"/>
                        </a:rPr>
                        <a:t>Bart hace broma → Homero grita → Bart deja de hacerlas</a:t>
                      </a:r>
                    </a:p>
                  </a:txBody>
                  <a:tcPr>
                    <a:solidFill>
                      <a:srgbClr val="E0DB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3A5F"/>
                          </a:solidFill>
                          <a:latin typeface="Calibri"/>
                        </a:rPr>
                        <a:t>Castigo NEGATIVO</a:t>
                      </a:r>
                    </a:p>
                    <a:p>
                      <a:pPr algn="l"/>
                      <a:r>
                        <a:rPr sz="1400" b="0">
                          <a:solidFill>
                            <a:srgbClr val="1E3A5F"/>
                          </a:solidFill>
                          <a:latin typeface="Calibri"/>
                        </a:rPr>
                        <a:t>Bart llega tarde → le quitan el skate → llega a horario</a:t>
                      </a:r>
                    </a:p>
                  </a:txBody>
                  <a:tcPr>
                    <a:solidFill>
                      <a:srgbClr val="E0DBD0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48000" y="5832000"/>
            <a:ext cx="10537200" cy="38100"/>
          </a:xfrm>
          <a:prstGeom prst="rect">
            <a:avLst/>
          </a:prstGeom>
          <a:solidFill>
            <a:srgbClr val="E8A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8000" y="5976000"/>
            <a:ext cx="105372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B5EA7"/>
                </a:solidFill>
                <a:latin typeface="Calibri"/>
              </a:rPr>
              <a:t>⚠  Positivo/Negativo = aparece/desaparece. No significa bueno/malo.</a:t>
            </a:r>
          </a:p>
        </p:txBody>
      </p:sp>
      <p:pic>
        <p:nvPicPr>
          <p:cNvPr id="8" name="Picture 7" descr="claro sin fo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0" y="108000"/>
            <a:ext cx="1440000" cy="792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8000" y="6462000"/>
            <a:ext cx="79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88888"/>
                </a:solidFill>
                <a:latin typeface="Calibri"/>
              </a:rPr>
              <a:t>Lic. Jean Clemotte  |  @Psico_Educa20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D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180000"/>
            <a:ext cx="79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B5EA7"/>
                </a:solidFill>
                <a:latin typeface="Calibri"/>
              </a:rPr>
              <a:t>BLOQUE 02 — LAS LEYES DEL APRENDIZAJE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8000" y="468000"/>
            <a:ext cx="7920000" cy="12700"/>
          </a:xfrm>
          <a:prstGeom prst="rect">
            <a:avLst/>
          </a:prstGeom>
          <a:solidFill>
            <a:srgbClr val="2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8000" y="612000"/>
            <a:ext cx="90972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E3A5F"/>
                </a:solidFill>
                <a:latin typeface="Georgia"/>
              </a:rPr>
              <a:t>Variables que alteran la contingencia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8000" y="1512000"/>
            <a:ext cx="5232600" cy="503999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E8A835"/>
                </a:solidFill>
                <a:latin typeface="Calibri"/>
              </a:rPr>
              <a:t>DISPOSICIONALES (estables)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8000" y="2124000"/>
            <a:ext cx="52326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E3A5F"/>
                </a:solidFill>
                <a:latin typeface="Calibri"/>
              </a:rPr>
              <a:t>• Biológicas: edad, enfermedades, medicación</a:t>
            </a:r>
          </a:p>
          <a:p>
            <a:pPr algn="l"/>
            <a:r>
              <a:rPr sz="1400">
                <a:solidFill>
                  <a:srgbClr val="1E3A5F"/>
                </a:solidFill>
                <a:latin typeface="Calibri"/>
              </a:rPr>
              <a:t>• Historia de aprendizaje</a:t>
            </a:r>
          </a:p>
          <a:p>
            <a:pPr algn="l"/>
            <a:r>
              <a:rPr sz="1400">
                <a:solidFill>
                  <a:srgbClr val="1E3A5F"/>
                </a:solidFill>
                <a:latin typeface="Calibri"/>
              </a:rPr>
              <a:t>• Repertorio conductual (habilidades/déficits)</a:t>
            </a:r>
          </a:p>
          <a:p>
            <a:pPr algn="l"/>
            <a:r>
              <a:rPr sz="1400" b="1" i="0">
                <a:solidFill>
                  <a:srgbClr val="E8A835"/>
                </a:solidFill>
                <a:latin typeface="Calibri"/>
              </a:rPr>
              <a:t>• Reglas internas: "si hago X, pasa Y"</a:t>
            </a:r>
          </a:p>
          <a:p>
            <a:pPr algn="l"/>
            <a:r>
              <a:rPr sz="1400">
                <a:solidFill>
                  <a:srgbClr val="1E3A5F"/>
                </a:solidFill>
                <a:latin typeface="Calibri"/>
              </a:rPr>
              <a:t>• Condiciones del entorno físico y social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68600" y="1512000"/>
            <a:ext cx="5232600" cy="503999"/>
          </a:xfrm>
          <a:prstGeom prst="roundRect">
            <a:avLst/>
          </a:prstGeom>
          <a:solidFill>
            <a:srgbClr val="2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4ABFB0"/>
                </a:solidFill>
                <a:latin typeface="Calibri"/>
              </a:rPr>
              <a:t>MOTIVADORAS (cambian)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68600" y="2124000"/>
            <a:ext cx="52326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E3A5F"/>
                </a:solidFill>
                <a:latin typeface="Calibri"/>
              </a:rPr>
              <a:t>• Privación / saciación</a:t>
            </a:r>
          </a:p>
          <a:p>
            <a:pPr algn="l"/>
            <a:r>
              <a:rPr sz="1400">
                <a:solidFill>
                  <a:srgbClr val="1E3A5F"/>
                </a:solidFill>
                <a:latin typeface="Calibri"/>
              </a:rPr>
              <a:t>• Estado emocional actual</a:t>
            </a:r>
          </a:p>
          <a:p>
            <a:pPr algn="l"/>
            <a:r>
              <a:rPr sz="1400">
                <a:solidFill>
                  <a:srgbClr val="1E3A5F"/>
                </a:solidFill>
                <a:latin typeface="Calibri"/>
              </a:rPr>
              <a:t>• Anticipaciones verbales</a:t>
            </a:r>
          </a:p>
          <a:p>
            <a:pPr algn="l"/>
            <a:r>
              <a:rPr sz="1400" b="1" i="0">
                <a:solidFill>
                  <a:srgbClr val="4ABFB0"/>
                </a:solidFill>
                <a:latin typeface="Calibri"/>
              </a:rPr>
              <a:t>• Cambios en el contexto inmediato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000" y="5508000"/>
            <a:ext cx="105372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1">
                <a:solidFill>
                  <a:srgbClr val="2B5EA7"/>
                </a:solidFill>
                <a:latin typeface="Calibri"/>
              </a:rPr>
              <a:t>No causan la conducta. Modifican la PROBABILIDAD de que ocurra.</a:t>
            </a:r>
          </a:p>
        </p:txBody>
      </p:sp>
      <p:pic>
        <p:nvPicPr>
          <p:cNvPr id="10" name="Picture 9" descr="claro sin fo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0" y="108000"/>
            <a:ext cx="1440000" cy="792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8000" y="6462000"/>
            <a:ext cx="79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88888"/>
                </a:solidFill>
                <a:latin typeface="Calibri"/>
              </a:rPr>
              <a:t>Lic. Jean Clemotte  |  @Psico_Educa20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D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180000"/>
            <a:ext cx="79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B5EA7"/>
                </a:solidFill>
                <a:latin typeface="Calibri"/>
              </a:rPr>
              <a:t>BLOQUE 02 — LAS LEYES DEL APRENDIZAJE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8000" y="468000"/>
            <a:ext cx="7920000" cy="12700"/>
          </a:xfrm>
          <a:prstGeom prst="rect">
            <a:avLst/>
          </a:prstGeom>
          <a:solidFill>
            <a:srgbClr val="2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8000" y="612000"/>
            <a:ext cx="90972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E3A5F"/>
                </a:solidFill>
                <a:latin typeface="Georgia"/>
              </a:rPr>
              <a:t>Ejemplos contextualizados — Marge en Asunción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8000" y="1440000"/>
          <a:ext cx="10537200" cy="41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2400"/>
                <a:gridCol w="3512400"/>
                <a:gridCol w="3512400"/>
              </a:tblGrid>
              <a:tr h="8280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5F0DC"/>
                          </a:solidFill>
                          <a:latin typeface="Calibri"/>
                        </a:rPr>
                        <a:t>Variable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5F0DC"/>
                          </a:solidFill>
                          <a:latin typeface="Calibri"/>
                        </a:rPr>
                        <a:t>Tipo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5F0DC"/>
                          </a:solidFill>
                          <a:latin typeface="Calibri"/>
                        </a:rPr>
                        <a:t>Efecto sobre la conducta de Marge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828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3A5F"/>
                          </a:solidFill>
                          <a:latin typeface="Calibri"/>
                        </a:rPr>
                        <a:t>Asalto previo en el Super Stock</a:t>
                      </a:r>
                    </a:p>
                  </a:txBody>
                  <a:tcPr>
                    <a:solidFill>
                      <a:srgbClr val="F2ED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3A5F"/>
                          </a:solidFill>
                          <a:latin typeface="Calibri"/>
                        </a:rPr>
                        <a:t>Disposicional</a:t>
                      </a:r>
                    </a:p>
                    <a:p>
                      <a:pPr algn="l"/>
                      <a:r>
                        <a:rPr sz="1200" b="0">
                          <a:solidFill>
                            <a:srgbClr val="1E3A5F"/>
                          </a:solidFill>
                          <a:latin typeface="Calibri"/>
                        </a:rPr>
                        <a:t>(historia)</a:t>
                      </a:r>
                    </a:p>
                  </a:txBody>
                  <a:tcPr>
                    <a:solidFill>
                      <a:srgbClr val="F2ED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3A5F"/>
                          </a:solidFill>
                          <a:latin typeface="Calibri"/>
                        </a:rPr>
                        <a:t>El Super Stock adquirió función de EC aversivo.</a:t>
                      </a:r>
                    </a:p>
                    <a:p>
                      <a:pPr algn="l"/>
                      <a:r>
                        <a:rPr sz="1200" b="0">
                          <a:solidFill>
                            <a:srgbClr val="1E3A5F"/>
                          </a:solidFill>
                          <a:latin typeface="Calibri"/>
                        </a:rPr>
                        <a:t>Aumenta la probabilidad de evitación.</a:t>
                      </a:r>
                    </a:p>
                  </a:txBody>
                  <a:tcPr>
                    <a:solidFill>
                      <a:srgbClr val="F2EDE4"/>
                    </a:solidFill>
                  </a:tcPr>
                </a:tc>
              </a:tr>
              <a:tr h="828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3A5F"/>
                          </a:solidFill>
                          <a:latin typeface="Calibri"/>
                        </a:rPr>
                        <a:t>Regla: "Si salgo sola, me van a asaltar de nuevo"</a:t>
                      </a:r>
                    </a:p>
                  </a:txBody>
                  <a:tcPr>
                    <a:solidFill>
                      <a:srgbClr val="E0DB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3A5F"/>
                          </a:solidFill>
                          <a:latin typeface="Calibri"/>
                        </a:rPr>
                        <a:t>Disposicional</a:t>
                      </a:r>
                    </a:p>
                    <a:p>
                      <a:pPr algn="l"/>
                      <a:r>
                        <a:rPr sz="1200" b="0">
                          <a:solidFill>
                            <a:srgbClr val="1E3A5F"/>
                          </a:solidFill>
                          <a:latin typeface="Calibri"/>
                        </a:rPr>
                        <a:t>(regla)</a:t>
                      </a:r>
                    </a:p>
                  </a:txBody>
                  <a:tcPr>
                    <a:solidFill>
                      <a:srgbClr val="E0DB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3A5F"/>
                          </a:solidFill>
                          <a:latin typeface="Calibri"/>
                        </a:rPr>
                        <a:t>Amplifica el valor del Ed. Aumenta la taquicardia ante cualquier supermercado.</a:t>
                      </a:r>
                    </a:p>
                  </a:txBody>
                  <a:tcPr>
                    <a:solidFill>
                      <a:srgbClr val="E0DBD0"/>
                    </a:solidFill>
                  </a:tcPr>
                </a:tc>
              </a:tr>
              <a:tr h="828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3A5F"/>
                          </a:solidFill>
                          <a:latin typeface="Calibri"/>
                        </a:rPr>
                        <a:t>Estrés del hogar: Bart suspendió, Maggie no duerme</a:t>
                      </a:r>
                    </a:p>
                  </a:txBody>
                  <a:tcPr>
                    <a:solidFill>
                      <a:srgbClr val="F2ED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3A5F"/>
                          </a:solidFill>
                          <a:latin typeface="Calibri"/>
                        </a:rPr>
                        <a:t>Motivadora</a:t>
                      </a:r>
                    </a:p>
                    <a:p>
                      <a:pPr algn="l"/>
                      <a:r>
                        <a:rPr sz="1200" b="0">
                          <a:solidFill>
                            <a:srgbClr val="1E3A5F"/>
                          </a:solidFill>
                          <a:latin typeface="Calibri"/>
                        </a:rPr>
                        <a:t>(estado emocional)</a:t>
                      </a:r>
                    </a:p>
                  </a:txBody>
                  <a:tcPr>
                    <a:solidFill>
                      <a:srgbClr val="F2ED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3A5F"/>
                          </a:solidFill>
                          <a:latin typeface="Calibri"/>
                        </a:rPr>
                        <a:t>Aumenta activación general. Cualquier estímulo produce más ansiedad.</a:t>
                      </a:r>
                    </a:p>
                  </a:txBody>
                  <a:tcPr>
                    <a:solidFill>
                      <a:srgbClr val="F2EDE4"/>
                    </a:solidFill>
                  </a:tcPr>
                </a:tc>
              </a:tr>
              <a:tr h="828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3A5F"/>
                          </a:solidFill>
                          <a:latin typeface="Calibri"/>
                        </a:rPr>
                        <a:t>Homero siempre va solo al Super Stock si Marge no puede</a:t>
                      </a:r>
                    </a:p>
                  </a:txBody>
                  <a:tcPr>
                    <a:solidFill>
                      <a:srgbClr val="E0DB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3A5F"/>
                          </a:solidFill>
                          <a:latin typeface="Calibri"/>
                        </a:rPr>
                        <a:t>Motivadora</a:t>
                      </a:r>
                    </a:p>
                    <a:p>
                      <a:pPr algn="l"/>
                      <a:r>
                        <a:rPr sz="1200" b="0">
                          <a:solidFill>
                            <a:srgbClr val="1E3A5F"/>
                          </a:solidFill>
                          <a:latin typeface="Calibri"/>
                        </a:rPr>
                        <a:t>(abolición)</a:t>
                      </a:r>
                    </a:p>
                  </a:txBody>
                  <a:tcPr>
                    <a:solidFill>
                      <a:srgbClr val="E0DB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3A5F"/>
                          </a:solidFill>
                          <a:latin typeface="Calibri"/>
                        </a:rPr>
                        <a:t>Reduce presión por salir. Refuerza la evitación por partida doble.</a:t>
                      </a:r>
                    </a:p>
                  </a:txBody>
                  <a:tcPr>
                    <a:solidFill>
                      <a:srgbClr val="E0DBD0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claro sin fo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0" y="108000"/>
            <a:ext cx="1440000" cy="79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8000" y="6462000"/>
            <a:ext cx="79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88888"/>
                </a:solidFill>
                <a:latin typeface="Calibri"/>
              </a:rPr>
              <a:t>Lic. Jean Clemotte  |  @Psico_Educa20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1080000"/>
            <a:ext cx="180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 i="0">
                <a:solidFill>
                  <a:srgbClr val="E8A835"/>
                </a:solidFill>
                <a:latin typeface="Georgia"/>
              </a:rPr>
              <a:t>03</a:t>
            </a:r>
          </a:p>
        </p:txBody>
      </p:sp>
      <p:sp>
        <p:nvSpPr>
          <p:cNvPr id="3" name="Rectangle 2"/>
          <p:cNvSpPr/>
          <p:nvPr/>
        </p:nvSpPr>
        <p:spPr>
          <a:xfrm>
            <a:off x="2736000" y="2340000"/>
            <a:ext cx="7200000" cy="38100"/>
          </a:xfrm>
          <a:prstGeom prst="rect">
            <a:avLst/>
          </a:prstGeom>
          <a:solidFill>
            <a:srgbClr val="E8A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36000" y="2592000"/>
            <a:ext cx="83772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5F0DC"/>
                </a:solidFill>
                <a:latin typeface="Georgia"/>
              </a:rPr>
              <a:t>El procedimiento
paso a paso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36000" y="4500000"/>
            <a:ext cx="83772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A9FE0"/>
                </a:solidFill>
                <a:latin typeface="Calibri"/>
              </a:rPr>
              <a:t>Describir la conducta  •  Antecedentes y consecuentes  •  Hipótesis funcional</a:t>
            </a:r>
          </a:p>
        </p:txBody>
      </p:sp>
      <p:pic>
        <p:nvPicPr>
          <p:cNvPr id="6" name="Picture 5" descr="oscuro sin fo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0" y="108000"/>
            <a:ext cx="1440000" cy="79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8000" y="6462000"/>
            <a:ext cx="79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5F0DC"/>
                </a:solidFill>
                <a:latin typeface="Calibri"/>
              </a:rPr>
              <a:t>Lic. Jean Clemotte  |  @Psico_Educa20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D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180000"/>
            <a:ext cx="79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B5EA7"/>
                </a:solidFill>
                <a:latin typeface="Calibri"/>
              </a:rPr>
              <a:t>BLOQUE 03 — EL PROCEDIMIENTO</a:t>
            </a:r>
          </a:p>
        </p:txBody>
      </p:sp>
      <p:sp>
        <p:nvSpPr>
          <p:cNvPr id="3" name="Rectangle 2"/>
          <p:cNvSpPr/>
          <p:nvPr/>
        </p:nvSpPr>
        <p:spPr>
          <a:xfrm>
            <a:off x="648000" y="468000"/>
            <a:ext cx="7920000" cy="12700"/>
          </a:xfrm>
          <a:prstGeom prst="rect">
            <a:avLst/>
          </a:prstGeom>
          <a:solidFill>
            <a:srgbClr val="2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8000" y="612000"/>
            <a:ext cx="90972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E3A5F"/>
                </a:solidFill>
                <a:latin typeface="Georgia"/>
              </a:rPr>
              <a:t>Paso 1 — ¿Qué hace exactamente?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8000" y="1548000"/>
            <a:ext cx="3452400" cy="1620000"/>
          </a:xfrm>
          <a:prstGeom prst="roundRect">
            <a:avLst/>
          </a:prstGeom>
          <a:solidFill>
            <a:srgbClr val="E4EEF8"/>
          </a:solidFill>
          <a:ln w="12700">
            <a:solidFill>
              <a:srgbClr val="2B5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E8A835"/>
                </a:solidFill>
                <a:latin typeface="Georgia"/>
              </a:rPr>
              <a:t>01
</a:t>
            </a:r>
            <a:r>
              <a:rPr sz="1500">
                <a:solidFill>
                  <a:srgbClr val="1E3A5F"/>
                </a:solidFill>
                <a:latin typeface="Calibri"/>
              </a:rPr>
              <a:t>Frecuencia
¿Cuántas
veces ocurre?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80400" y="1548000"/>
            <a:ext cx="3452400" cy="1620000"/>
          </a:xfrm>
          <a:prstGeom prst="roundRect">
            <a:avLst/>
          </a:prstGeom>
          <a:solidFill>
            <a:srgbClr val="E4EEF8"/>
          </a:solidFill>
          <a:ln w="12700">
            <a:solidFill>
              <a:srgbClr val="2B5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E8A835"/>
                </a:solidFill>
                <a:latin typeface="Georgia"/>
              </a:rPr>
              <a:t>02
</a:t>
            </a:r>
            <a:r>
              <a:rPr sz="1500">
                <a:solidFill>
                  <a:srgbClr val="1E3A5F"/>
                </a:solidFill>
                <a:latin typeface="Calibri"/>
              </a:rPr>
              <a:t>Duración
¿Cuánto
tiempo dura?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12800" y="1548000"/>
            <a:ext cx="3452400" cy="1620000"/>
          </a:xfrm>
          <a:prstGeom prst="roundRect">
            <a:avLst/>
          </a:prstGeom>
          <a:solidFill>
            <a:srgbClr val="E4EEF8"/>
          </a:solidFill>
          <a:ln w="12700">
            <a:solidFill>
              <a:srgbClr val="2B5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E8A835"/>
                </a:solidFill>
                <a:latin typeface="Georgia"/>
              </a:rPr>
              <a:t>03
</a:t>
            </a:r>
            <a:r>
              <a:rPr sz="1500">
                <a:solidFill>
                  <a:srgbClr val="1E3A5F"/>
                </a:solidFill>
                <a:latin typeface="Calibri"/>
              </a:rPr>
              <a:t>Localización
¿Cuándo?
¿Dónde?
¿Con quién?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000" y="3528000"/>
            <a:ext cx="105372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C3333"/>
                </a:solidFill>
                <a:latin typeface="Calibri"/>
              </a:rPr>
              <a:t>❌  "Marge tiene ansiedad"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000" y="4031999"/>
            <a:ext cx="105372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28844"/>
                </a:solidFill>
                <a:latin typeface="Calibri"/>
              </a:rPr>
              <a:t>✓  "Marge evita supermercados, shoppings y eventos sociales desde hace 2 años en Asunción,
   en cualquier lugar concurrido donde no esté Homero presente."</a:t>
            </a:r>
          </a:p>
        </p:txBody>
      </p:sp>
      <p:pic>
        <p:nvPicPr>
          <p:cNvPr id="10" name="Picture 9" descr="claro sin fo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0" y="108000"/>
            <a:ext cx="1440000" cy="792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8000" y="6462000"/>
            <a:ext cx="79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88888"/>
                </a:solidFill>
                <a:latin typeface="Calibri"/>
              </a:rPr>
              <a:t>Lic. Jean Clemotte  |  @Psico_Educa20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D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180000"/>
            <a:ext cx="79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B5EA7"/>
                </a:solidFill>
                <a:latin typeface="Calibri"/>
              </a:rPr>
              <a:t>BLOQUE 03 — EL PROCEDIMIENTO</a:t>
            </a:r>
          </a:p>
        </p:txBody>
      </p:sp>
      <p:sp>
        <p:nvSpPr>
          <p:cNvPr id="3" name="Rectangle 2"/>
          <p:cNvSpPr/>
          <p:nvPr/>
        </p:nvSpPr>
        <p:spPr>
          <a:xfrm>
            <a:off x="648000" y="468000"/>
            <a:ext cx="7920000" cy="12700"/>
          </a:xfrm>
          <a:prstGeom prst="rect">
            <a:avLst/>
          </a:prstGeom>
          <a:solidFill>
            <a:srgbClr val="2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8000" y="612000"/>
            <a:ext cx="90972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E3A5F"/>
                </a:solidFill>
                <a:latin typeface="Georgia"/>
              </a:rPr>
              <a:t>Paso 2 — ¿Qué pasa antes y después?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8000" y="1512000"/>
            <a:ext cx="3240000" cy="2520000"/>
          </a:xfrm>
          <a:prstGeom prst="roundRect">
            <a:avLst/>
          </a:prstGeom>
          <a:solidFill>
            <a:srgbClr val="E4EEF8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1E3A5F"/>
                </a:solidFill>
                <a:latin typeface="Calibri"/>
              </a:rPr>
              <a:t>ANTES
(Antecedentes)
¿Dónde está?
¿Con quién?
¿Qué piensa?
¿Qué siente?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24000" y="2520001"/>
            <a:ext cx="432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E8A835"/>
                </a:solidFill>
                <a:latin typeface="Calibri"/>
              </a:rPr>
              <a:t>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0000" y="2340000"/>
            <a:ext cx="2340000" cy="90000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5F0DC"/>
                </a:solidFill>
                <a:latin typeface="Calibri"/>
              </a:rPr>
              <a:t>CONDUCTA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68000" y="2520001"/>
            <a:ext cx="432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E8A835"/>
                </a:solidFill>
                <a:latin typeface="Calibri"/>
              </a:rPr>
              <a:t>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20000" y="1512000"/>
            <a:ext cx="3240000" cy="2520000"/>
          </a:xfrm>
          <a:prstGeom prst="roundRect">
            <a:avLst/>
          </a:prstGeom>
          <a:solidFill>
            <a:srgbClr val="E4EEF8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1E3A5F"/>
                </a:solidFill>
                <a:latin typeface="Calibri"/>
              </a:rPr>
              <a:t>DESPUÉS
(Consecuentes)
¿Qué obtiene?
¿Qué evita?
¿Cómo se siente?
¿Qué hacen los otros?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8000" y="4500000"/>
            <a:ext cx="10537200" cy="38100"/>
          </a:xfrm>
          <a:prstGeom prst="rect">
            <a:avLst/>
          </a:prstGeom>
          <a:solidFill>
            <a:srgbClr val="E8A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8000" y="4644000"/>
            <a:ext cx="105372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B5EA7"/>
                </a:solidFill>
                <a:latin typeface="Calibri"/>
              </a:rPr>
              <a:t>⚠  No todo lo que ocurre antes/después tiene relación funcional con la conducta.</a:t>
            </a:r>
          </a:p>
        </p:txBody>
      </p:sp>
      <p:pic>
        <p:nvPicPr>
          <p:cNvPr id="12" name="Picture 11" descr="claro sin fo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0" y="108000"/>
            <a:ext cx="1440000" cy="792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8000" y="6462000"/>
            <a:ext cx="79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88888"/>
                </a:solidFill>
                <a:latin typeface="Calibri"/>
              </a:rPr>
              <a:t>Lic. Jean Clemotte  |  @Psico_Educa20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D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180000"/>
            <a:ext cx="79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B5EA7"/>
                </a:solidFill>
                <a:latin typeface="Calibri"/>
              </a:rPr>
              <a:t>BLOQUE 03 — EL PROCEDIMIENTO</a:t>
            </a:r>
          </a:p>
        </p:txBody>
      </p:sp>
      <p:sp>
        <p:nvSpPr>
          <p:cNvPr id="3" name="Rectangle 2"/>
          <p:cNvSpPr/>
          <p:nvPr/>
        </p:nvSpPr>
        <p:spPr>
          <a:xfrm>
            <a:off x="648000" y="468000"/>
            <a:ext cx="7920000" cy="12700"/>
          </a:xfrm>
          <a:prstGeom prst="rect">
            <a:avLst/>
          </a:prstGeom>
          <a:solidFill>
            <a:srgbClr val="2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8000" y="612000"/>
            <a:ext cx="90972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E3A5F"/>
                </a:solidFill>
                <a:latin typeface="Georgia"/>
              </a:rPr>
              <a:t>¿La conducta ocurre POR algo o PARA algo?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8000" y="1512000"/>
          <a:ext cx="10537200" cy="34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68600"/>
                <a:gridCol w="5268600"/>
              </a:tblGrid>
              <a:tr h="57000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5F0DC"/>
                          </a:solidFill>
                          <a:latin typeface="Calibri"/>
                        </a:rPr>
                        <a:t>E-R  (Respondiente / Clásica)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5F0DC"/>
                          </a:solidFill>
                          <a:latin typeface="Calibri"/>
                        </a:rPr>
                        <a:t>E-R-C  (Operante)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570000"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E3A5F"/>
                          </a:solidFill>
                          <a:latin typeface="Calibri"/>
                        </a:rPr>
                        <a:t>Es una REACCIÓN ante el ambiente</a:t>
                      </a:r>
                    </a:p>
                  </a:txBody>
                  <a:tcPr>
                    <a:solidFill>
                      <a:srgbClr val="F2ED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E3A5F"/>
                          </a:solidFill>
                          <a:latin typeface="Calibri"/>
                        </a:rPr>
                        <a:t>Es una ACCIÓN sobre el ambiente</a:t>
                      </a:r>
                    </a:p>
                  </a:txBody>
                  <a:tcPr>
                    <a:solidFill>
                      <a:srgbClr val="F2EDE4"/>
                    </a:solidFill>
                  </a:tcPr>
                </a:tc>
              </a:tr>
              <a:tr h="570000"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E3A5F"/>
                          </a:solidFill>
                          <a:latin typeface="Calibri"/>
                        </a:rPr>
                        <a:t>No depende de las consecuencias</a:t>
                      </a:r>
                    </a:p>
                  </a:txBody>
                  <a:tcPr>
                    <a:solidFill>
                      <a:srgbClr val="E0DB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E3A5F"/>
                          </a:solidFill>
                          <a:latin typeface="Calibri"/>
                        </a:rPr>
                        <a:t>Las consecuencias la moldean</a:t>
                      </a:r>
                    </a:p>
                  </a:txBody>
                  <a:tcPr>
                    <a:solidFill>
                      <a:srgbClr val="E0DBD0"/>
                    </a:solidFill>
                  </a:tcPr>
                </a:tc>
              </a:tr>
              <a:tr h="570000"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E3A5F"/>
                          </a:solidFill>
                          <a:latin typeface="Calibri"/>
                        </a:rPr>
                        <a:t>Es automática — no se puede evitar</a:t>
                      </a:r>
                    </a:p>
                  </a:txBody>
                  <a:tcPr>
                    <a:solidFill>
                      <a:srgbClr val="F2ED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E3A5F"/>
                          </a:solidFill>
                          <a:latin typeface="Calibri"/>
                        </a:rPr>
                        <a:t>El sujeto puede modificarla</a:t>
                      </a:r>
                    </a:p>
                  </a:txBody>
                  <a:tcPr>
                    <a:solidFill>
                      <a:srgbClr val="F2EDE4"/>
                    </a:solidFill>
                  </a:tcPr>
                </a:tc>
              </a:tr>
              <a:tr h="570000"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E3A5F"/>
                          </a:solidFill>
                          <a:latin typeface="Calibri"/>
                        </a:rPr>
                        <a:t>Ocurre POR el estímulo antecedente</a:t>
                      </a:r>
                    </a:p>
                  </a:txBody>
                  <a:tcPr>
                    <a:solidFill>
                      <a:srgbClr val="E0DB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E3A5F"/>
                          </a:solidFill>
                          <a:latin typeface="Calibri"/>
                        </a:rPr>
                        <a:t>Ocurre PARA obtener algo</a:t>
                      </a:r>
                    </a:p>
                  </a:txBody>
                  <a:tcPr>
                    <a:solidFill>
                      <a:srgbClr val="E0DBD0"/>
                    </a:solidFill>
                  </a:tcPr>
                </a:tc>
              </a:tr>
              <a:tr h="570000"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E3A5F"/>
                          </a:solidFill>
                          <a:latin typeface="Calibri"/>
                        </a:rPr>
                        <a:t>Ej: taquicardia ante el Super Stock</a:t>
                      </a:r>
                    </a:p>
                  </a:txBody>
                  <a:tcPr>
                    <a:solidFill>
                      <a:srgbClr val="F2ED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E3A5F"/>
                          </a:solidFill>
                          <a:latin typeface="Calibri"/>
                        </a:rPr>
                        <a:t>Ej: decir "no puedo ir" y quedarse</a:t>
                      </a:r>
                    </a:p>
                  </a:txBody>
                  <a:tcPr>
                    <a:solidFill>
                      <a:srgbClr val="F2EDE4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48000" y="5220000"/>
            <a:ext cx="10537200" cy="38100"/>
          </a:xfrm>
          <a:prstGeom prst="rect">
            <a:avLst/>
          </a:prstGeom>
          <a:solidFill>
            <a:srgbClr val="4AB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8000" y="5364000"/>
            <a:ext cx="105372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2B5EA7"/>
                </a:solidFill>
                <a:latin typeface="Calibri"/>
              </a:rPr>
              <a:t>En clínica casi siempre aparecen las dos juntas: Marge tiene taquicardia (E-R)  y  evita el supermercado (E-R-C).</a:t>
            </a:r>
          </a:p>
        </p:txBody>
      </p:sp>
      <p:pic>
        <p:nvPicPr>
          <p:cNvPr id="8" name="Picture 7" descr="claro sin fo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0" y="108000"/>
            <a:ext cx="1440000" cy="792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8000" y="6462000"/>
            <a:ext cx="79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88888"/>
                </a:solidFill>
                <a:latin typeface="Calibri"/>
              </a:rPr>
              <a:t>Lic. Jean Clemotte  |  @Psico_Educa20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D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180000"/>
            <a:ext cx="79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B5EA7"/>
                </a:solidFill>
                <a:latin typeface="Calibri"/>
              </a:rPr>
              <a:t>BLOQUE 03 — EL PROCEDIMIENTO</a:t>
            </a:r>
          </a:p>
        </p:txBody>
      </p:sp>
      <p:sp>
        <p:nvSpPr>
          <p:cNvPr id="3" name="Rectangle 2"/>
          <p:cNvSpPr/>
          <p:nvPr/>
        </p:nvSpPr>
        <p:spPr>
          <a:xfrm>
            <a:off x="648000" y="468000"/>
            <a:ext cx="7920000" cy="12700"/>
          </a:xfrm>
          <a:prstGeom prst="rect">
            <a:avLst/>
          </a:prstGeom>
          <a:solidFill>
            <a:srgbClr val="2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8000" y="612000"/>
            <a:ext cx="90972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E3A5F"/>
                </a:solidFill>
                <a:latin typeface="Georgia"/>
              </a:rPr>
              <a:t>Paso 3 — ¿Qué facilita o dificulta que ocurra?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1512000"/>
            <a:ext cx="52326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A835"/>
                </a:solidFill>
                <a:latin typeface="Calibri"/>
              </a:rPr>
              <a:t>Biológicas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8000" y="1872000"/>
            <a:ext cx="5232600" cy="25400"/>
          </a:xfrm>
          <a:prstGeom prst="rect">
            <a:avLst/>
          </a:prstGeom>
          <a:solidFill>
            <a:srgbClr val="E8A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8000" y="1980000"/>
            <a:ext cx="52326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3A5F"/>
                </a:solidFill>
                <a:latin typeface="Calibri"/>
              </a:rPr>
              <a:t>¿Medicación?
¿Enfermedades?
¿Duerme bien?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68600" y="1512000"/>
            <a:ext cx="52326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ABFB0"/>
                </a:solidFill>
                <a:latin typeface="Calibri"/>
              </a:rPr>
              <a:t>Historia aprendizaje</a:t>
            </a:r>
          </a:p>
        </p:txBody>
      </p:sp>
      <p:sp>
        <p:nvSpPr>
          <p:cNvPr id="9" name="Rectangle 8"/>
          <p:cNvSpPr/>
          <p:nvPr/>
        </p:nvSpPr>
        <p:spPr>
          <a:xfrm>
            <a:off x="6168600" y="1872000"/>
            <a:ext cx="5232600" cy="25400"/>
          </a:xfrm>
          <a:prstGeom prst="rect">
            <a:avLst/>
          </a:prstGeom>
          <a:solidFill>
            <a:srgbClr val="4AB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68600" y="1980000"/>
            <a:ext cx="52326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3A5F"/>
                </a:solidFill>
                <a:latin typeface="Calibri"/>
              </a:rPr>
              <a:t>¿Cuándo empezó?
¿Qué pasó?
¿Experiencias similares?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000" y="3492000"/>
            <a:ext cx="52326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A835"/>
                </a:solidFill>
                <a:latin typeface="Calibri"/>
              </a:rPr>
              <a:t>Reglas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8000" y="3852000"/>
            <a:ext cx="5232600" cy="25400"/>
          </a:xfrm>
          <a:prstGeom prst="rect">
            <a:avLst/>
          </a:prstGeom>
          <a:solidFill>
            <a:srgbClr val="E8A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000" y="3960000"/>
            <a:ext cx="52326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3A5F"/>
                </a:solidFill>
                <a:latin typeface="Calibri"/>
              </a:rPr>
              <a:t>"Si salgo, me asaltan"
"No puedo controlar
mi ansiedad"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68600" y="3492000"/>
            <a:ext cx="52326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ABFB0"/>
                </a:solidFill>
                <a:latin typeface="Calibri"/>
              </a:rPr>
              <a:t>Contexto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68600" y="3852000"/>
            <a:ext cx="5232600" cy="25400"/>
          </a:xfrm>
          <a:prstGeom prst="rect">
            <a:avLst/>
          </a:prstGeom>
          <a:solidFill>
            <a:srgbClr val="4AB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68600" y="3960000"/>
            <a:ext cx="52326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3A5F"/>
                </a:solidFill>
                <a:latin typeface="Calibri"/>
              </a:rPr>
              <a:t>¿Cuándo ocurre más?
¿Cuándo NO ocurre?
¿Qué lugares influyen?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000" y="5832000"/>
            <a:ext cx="105372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2B5EA7"/>
                </a:solidFill>
                <a:latin typeface="Calibri"/>
              </a:rPr>
              <a:t>No listar por listar — especificar CÓMO cada variable afecta a la contingencia.</a:t>
            </a:r>
          </a:p>
        </p:txBody>
      </p:sp>
      <p:pic>
        <p:nvPicPr>
          <p:cNvPr id="18" name="Picture 17" descr="claro sin fo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0" y="108000"/>
            <a:ext cx="1440000" cy="792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48000" y="6462000"/>
            <a:ext cx="79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88888"/>
                </a:solidFill>
                <a:latin typeface="Calibri"/>
              </a:rPr>
              <a:t>Lic. Jean Clemotte  |  @Psico_Educa20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D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180000"/>
            <a:ext cx="79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B5EA7"/>
                </a:solidFill>
                <a:latin typeface="Calibri"/>
              </a:rPr>
              <a:t>BLOQUE 03 — EL PROCEDIMIENTO</a:t>
            </a:r>
          </a:p>
        </p:txBody>
      </p:sp>
      <p:sp>
        <p:nvSpPr>
          <p:cNvPr id="3" name="Rectangle 2"/>
          <p:cNvSpPr/>
          <p:nvPr/>
        </p:nvSpPr>
        <p:spPr>
          <a:xfrm>
            <a:off x="648000" y="468000"/>
            <a:ext cx="7920000" cy="12700"/>
          </a:xfrm>
          <a:prstGeom prst="rect">
            <a:avLst/>
          </a:prstGeom>
          <a:solidFill>
            <a:srgbClr val="2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8000" y="612000"/>
            <a:ext cx="90972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E3A5F"/>
                </a:solidFill>
                <a:latin typeface="Georgia"/>
              </a:rPr>
              <a:t>La hipótesis funcional: origen vs mantenimiento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8000" y="1512000"/>
            <a:ext cx="5232600" cy="468000"/>
          </a:xfrm>
          <a:prstGeom prst="roundRect">
            <a:avLst/>
          </a:prstGeom>
          <a:solidFill>
            <a:srgbClr val="E4EEF8"/>
          </a:solidFill>
          <a:ln w="12700">
            <a:solidFill>
              <a:srgbClr val="2B5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E3A5F"/>
                </a:solidFill>
                <a:latin typeface="Calibri"/>
              </a:rPr>
              <a:t>Hipótesis de ORIGEN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8000" y="2088000"/>
            <a:ext cx="52326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E3A5F"/>
                </a:solidFill>
                <a:latin typeface="Calibri"/>
              </a:rPr>
              <a:t>¿Cómo se aprendió esta conducta?</a:t>
            </a:r>
          </a:p>
          <a:p>
            <a:pPr algn="l"/>
            <a:r>
              <a:rPr sz="1400">
                <a:solidFill>
                  <a:srgbClr val="1E3A5F"/>
                </a:solidFill>
                <a:latin typeface="Calibri"/>
              </a:rPr>
              <a:t> </a:t>
            </a:r>
          </a:p>
          <a:p>
            <a:pPr algn="l"/>
            <a:r>
              <a:rPr sz="1300" b="0" i="0">
                <a:solidFill>
                  <a:srgbClr val="2B5EA7"/>
                </a:solidFill>
                <a:latin typeface="Calibri"/>
              </a:rPr>
              <a:t>→ Puede ser desconocida</a:t>
            </a:r>
          </a:p>
          <a:p>
            <a:pPr algn="l"/>
            <a:r>
              <a:rPr sz="1300" b="0" i="0">
                <a:solidFill>
                  <a:srgbClr val="2B5EA7"/>
                </a:solidFill>
                <a:latin typeface="Calibri"/>
              </a:rPr>
              <a:t>→ No siempre necesaria para el tratamiento</a:t>
            </a:r>
          </a:p>
          <a:p>
            <a:pPr algn="l"/>
            <a:r>
              <a:rPr sz="1400">
                <a:solidFill>
                  <a:srgbClr val="1E3A5F"/>
                </a:solidFill>
                <a:latin typeface="Calibri"/>
              </a:rPr>
              <a:t> </a:t>
            </a:r>
          </a:p>
          <a:p>
            <a:pPr algn="l"/>
            <a:r>
              <a:rPr sz="1400" b="0" i="1">
                <a:solidFill>
                  <a:srgbClr val="1E3A5F"/>
                </a:solidFill>
                <a:latin typeface="Calibri"/>
              </a:rPr>
              <a:t>"Marge fue asaltada en el Super Stock.
Desde ese día empezó a evitar salir."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68600" y="1512000"/>
            <a:ext cx="5232600" cy="46800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5F0DC"/>
                </a:solidFill>
                <a:latin typeface="Calibri"/>
              </a:rPr>
              <a:t>Hipótesis de MANTENIMIENTO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68600" y="2088000"/>
            <a:ext cx="52326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E3A5F"/>
                </a:solidFill>
                <a:latin typeface="Calibri"/>
              </a:rPr>
              <a:t>¿Qué la sostiene HOY?</a:t>
            </a:r>
          </a:p>
          <a:p>
            <a:pPr algn="l"/>
            <a:r>
              <a:rPr sz="1400">
                <a:solidFill>
                  <a:srgbClr val="1E3A5F"/>
                </a:solidFill>
                <a:latin typeface="Calibri"/>
              </a:rPr>
              <a:t> </a:t>
            </a:r>
          </a:p>
          <a:p>
            <a:pPr algn="l"/>
            <a:r>
              <a:rPr sz="1300" b="1" i="0">
                <a:solidFill>
                  <a:srgbClr val="E8A835"/>
                </a:solidFill>
                <a:latin typeface="Calibri"/>
              </a:rPr>
              <a:t>→ Esta es la que guía el tratamiento</a:t>
            </a:r>
          </a:p>
          <a:p>
            <a:pPr algn="l"/>
            <a:r>
              <a:rPr sz="1300" b="0" i="0">
                <a:solidFill>
                  <a:srgbClr val="1E3A5F"/>
                </a:solidFill>
                <a:latin typeface="Calibri"/>
              </a:rPr>
              <a:t>→ Se establece desde las contingencias actuales</a:t>
            </a:r>
          </a:p>
          <a:p>
            <a:pPr algn="l"/>
            <a:r>
              <a:rPr sz="1400">
                <a:solidFill>
                  <a:srgbClr val="1E3A5F"/>
                </a:solidFill>
                <a:latin typeface="Calibri"/>
              </a:rPr>
              <a:t> </a:t>
            </a:r>
          </a:p>
          <a:p>
            <a:pPr algn="l"/>
            <a:r>
              <a:rPr sz="1400" b="0" i="1">
                <a:solidFill>
                  <a:srgbClr val="1E3A5F"/>
                </a:solidFill>
                <a:latin typeface="Calibri"/>
              </a:rPr>
              <a:t>"Marge evita porque eso reduce la taquicardia (RN). Homero resuelve las compras (RN adicional). La regla amplifica la respuesta."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000" y="5868000"/>
            <a:ext cx="105372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1">
                <a:solidFill>
                  <a:srgbClr val="2B5EA7"/>
                </a:solidFill>
                <a:latin typeface="Calibri"/>
              </a:rPr>
              <a:t>El pasado no CAUSA la conducta actual. La sostienen las contingencias PRESENTES.</a:t>
            </a:r>
          </a:p>
        </p:txBody>
      </p:sp>
      <p:pic>
        <p:nvPicPr>
          <p:cNvPr id="10" name="Picture 9" descr="claro sin fo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0" y="108000"/>
            <a:ext cx="1440000" cy="792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8000" y="6462000"/>
            <a:ext cx="79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88888"/>
                </a:solidFill>
                <a:latin typeface="Calibri"/>
              </a:rPr>
              <a:t>Lic. Jean Clemotte  |  @Psico_Educa20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D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180000"/>
            <a:ext cx="79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B5EA7"/>
                </a:solidFill>
                <a:latin typeface="Calibri"/>
              </a:rPr>
              <a:t>BLOQUE 03 — EL PROCEDIMIENTO</a:t>
            </a:r>
          </a:p>
        </p:txBody>
      </p:sp>
      <p:sp>
        <p:nvSpPr>
          <p:cNvPr id="3" name="Rectangle 2"/>
          <p:cNvSpPr/>
          <p:nvPr/>
        </p:nvSpPr>
        <p:spPr>
          <a:xfrm>
            <a:off x="648000" y="468000"/>
            <a:ext cx="7920000" cy="12700"/>
          </a:xfrm>
          <a:prstGeom prst="rect">
            <a:avLst/>
          </a:prstGeom>
          <a:solidFill>
            <a:srgbClr val="2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8000" y="612000"/>
            <a:ext cx="90972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E3A5F"/>
                </a:solidFill>
                <a:latin typeface="Georgia"/>
              </a:rPr>
              <a:t>Marge: del diagnóstico al análisis funcional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8000" y="1440000"/>
          <a:ext cx="10537200" cy="37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68600"/>
                <a:gridCol w="5268600"/>
              </a:tblGrid>
              <a:tr h="54000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5F0DC"/>
                          </a:solidFill>
                          <a:latin typeface="Calibri"/>
                        </a:rPr>
                        <a:t>Componente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5F0DC"/>
                          </a:solidFill>
                          <a:latin typeface="Calibri"/>
                        </a:rPr>
                        <a:t>Marge Simpson — Asunción, Paraguay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5400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3A5F"/>
                          </a:solidFill>
                          <a:latin typeface="Calibri"/>
                        </a:rPr>
                        <a:t>Conducta (R)</a:t>
                      </a:r>
                    </a:p>
                  </a:txBody>
                  <a:tcPr>
                    <a:solidFill>
                      <a:srgbClr val="F2ED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3A5F"/>
                          </a:solidFill>
                          <a:latin typeface="Calibri"/>
                        </a:rPr>
                        <a:t>Evitar supermercados, shoppings y lugares concurridos sin compañía</a:t>
                      </a:r>
                    </a:p>
                  </a:txBody>
                  <a:tcPr>
                    <a:solidFill>
                      <a:srgbClr val="F2EDE4"/>
                    </a:solidFill>
                  </a:tcPr>
                </a:tc>
              </a:tr>
              <a:tr h="5400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3A5F"/>
                          </a:solidFill>
                          <a:latin typeface="Calibri"/>
                        </a:rPr>
                        <a:t>Antecedente (Ed)</a:t>
                      </a:r>
                    </a:p>
                  </a:txBody>
                  <a:tcPr>
                    <a:solidFill>
                      <a:srgbClr val="E0DB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3A5F"/>
                          </a:solidFill>
                          <a:latin typeface="Calibri"/>
                        </a:rPr>
                        <a:t>Homero dice "¿vamos al Super Stock?" / pensar en salir sola</a:t>
                      </a:r>
                    </a:p>
                  </a:txBody>
                  <a:tcPr>
                    <a:solidFill>
                      <a:srgbClr val="E0DBD0"/>
                    </a:solidFill>
                  </a:tcPr>
                </a:tc>
              </a:tr>
              <a:tr h="5400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3A5F"/>
                          </a:solidFill>
                          <a:latin typeface="Calibri"/>
                        </a:rPr>
                        <a:t>Consecuente (C)</a:t>
                      </a:r>
                    </a:p>
                  </a:txBody>
                  <a:tcPr>
                    <a:solidFill>
                      <a:srgbClr val="F2ED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3A5F"/>
                          </a:solidFill>
                          <a:latin typeface="Calibri"/>
                        </a:rPr>
                        <a:t>Homero va solo → Marge en casa → desaparece ansiedad (RN)</a:t>
                      </a:r>
                    </a:p>
                  </a:txBody>
                  <a:tcPr>
                    <a:solidFill>
                      <a:srgbClr val="F2EDE4"/>
                    </a:solidFill>
                  </a:tcPr>
                </a:tc>
              </a:tr>
              <a:tr h="5400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3A5F"/>
                          </a:solidFill>
                          <a:latin typeface="Calibri"/>
                        </a:rPr>
                        <a:t>Resp. condicionada</a:t>
                      </a:r>
                    </a:p>
                  </a:txBody>
                  <a:tcPr>
                    <a:solidFill>
                      <a:srgbClr val="E0DB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3A5F"/>
                          </a:solidFill>
                          <a:latin typeface="Calibri"/>
                        </a:rPr>
                        <a:t>Taquicardia + ahogo ante cualquier lugar concurrido (CC)</a:t>
                      </a:r>
                    </a:p>
                  </a:txBody>
                  <a:tcPr>
                    <a:solidFill>
                      <a:srgbClr val="E0DBD0"/>
                    </a:solidFill>
                  </a:tcPr>
                </a:tc>
              </a:tr>
              <a:tr h="5400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3A5F"/>
                          </a:solidFill>
                          <a:latin typeface="Calibri"/>
                        </a:rPr>
                        <a:t>Var. disposicional</a:t>
                      </a:r>
                    </a:p>
                  </a:txBody>
                  <a:tcPr>
                    <a:solidFill>
                      <a:srgbClr val="F2ED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3A5F"/>
                          </a:solidFill>
                          <a:latin typeface="Calibri"/>
                        </a:rPr>
                        <a:t>Regla: "Si salgo sola, me van a asaltar de nuevo"</a:t>
                      </a:r>
                    </a:p>
                  </a:txBody>
                  <a:tcPr>
                    <a:solidFill>
                      <a:srgbClr val="F2EDE4"/>
                    </a:solidFill>
                  </a:tcPr>
                </a:tc>
              </a:tr>
              <a:tr h="5400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3A5F"/>
                          </a:solidFill>
                          <a:latin typeface="Calibri"/>
                        </a:rPr>
                        <a:t>Var. motivadora</a:t>
                      </a:r>
                    </a:p>
                  </a:txBody>
                  <a:tcPr>
                    <a:solidFill>
                      <a:srgbClr val="E0DB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3A5F"/>
                          </a:solidFill>
                          <a:latin typeface="Calibri"/>
                        </a:rPr>
                        <a:t>Estrés del hogar: Bart + Homero + Maggie potencia la respuesta</a:t>
                      </a:r>
                    </a:p>
                  </a:txBody>
                  <a:tcPr>
                    <a:solidFill>
                      <a:srgbClr val="E0DBD0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48000" y="5580000"/>
            <a:ext cx="10537200" cy="38100"/>
          </a:xfrm>
          <a:prstGeom prst="rect">
            <a:avLst/>
          </a:prstGeom>
          <a:solidFill>
            <a:srgbClr val="E8A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8000" y="5724000"/>
            <a:ext cx="105372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B5EA7"/>
                </a:solidFill>
                <a:latin typeface="Calibri"/>
              </a:rPr>
              <a:t>La evitación se mantiene por DOS razones: produce alivio + Homero resuelve por ella.</a:t>
            </a:r>
          </a:p>
        </p:txBody>
      </p:sp>
      <p:pic>
        <p:nvPicPr>
          <p:cNvPr id="8" name="Picture 7" descr="claro sin fo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0" y="108000"/>
            <a:ext cx="1440000" cy="792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8000" y="6462000"/>
            <a:ext cx="79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88888"/>
                </a:solidFill>
                <a:latin typeface="Calibri"/>
              </a:rPr>
              <a:t>Lic. Jean Clemotte  |  @Psico_Educa20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540000"/>
            <a:ext cx="90972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5F0DC"/>
                </a:solidFill>
                <a:latin typeface="Georgia"/>
              </a:rPr>
              <a:t>Para llevarse hoy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8000" y="1620000"/>
            <a:ext cx="900000" cy="1080000"/>
          </a:xfrm>
          <a:prstGeom prst="roundRect">
            <a:avLst/>
          </a:prstGeom>
          <a:solidFill>
            <a:srgbClr val="E8A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>
                <a:solidFill>
                  <a:srgbClr val="1E3A5F"/>
                </a:solidFill>
                <a:latin typeface="Georgia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0" y="1728000"/>
            <a:ext cx="81972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5F0DC"/>
                </a:solidFill>
                <a:latin typeface="Calibri"/>
              </a:rPr>
              <a:t>Lo que importa no es cómo se ve la conducta (morfología),
sino para qué sirve en ese contexto (función).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8000" y="3060000"/>
            <a:ext cx="900000" cy="1080000"/>
          </a:xfrm>
          <a:prstGeom prst="roundRect">
            <a:avLst/>
          </a:prstGeom>
          <a:solidFill>
            <a:srgbClr val="4AB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>
                <a:solidFill>
                  <a:srgbClr val="1E3A5F"/>
                </a:solidFill>
                <a:latin typeface="Georgia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0000" y="3168000"/>
            <a:ext cx="81972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5F0DC"/>
                </a:solidFill>
                <a:latin typeface="Calibri"/>
              </a:rPr>
              <a:t>Las conductas se mantienen porque obtienen consecuencias.
Identificar cuáles es la tarea del psicólogo.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8000" y="4500000"/>
            <a:ext cx="900000" cy="1080000"/>
          </a:xfrm>
          <a:prstGeom prst="roundRect">
            <a:avLst/>
          </a:prstGeom>
          <a:solidFill>
            <a:srgbClr val="E8A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>
                <a:solidFill>
                  <a:srgbClr val="1E3A5F"/>
                </a:solidFill>
                <a:latin typeface="Georgia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00000" y="4608000"/>
            <a:ext cx="81972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5F0DC"/>
                </a:solidFill>
                <a:latin typeface="Calibri"/>
              </a:rPr>
              <a:t>El AF no es un diagnóstico.
Es una hipótesis explicativa que guía la intervención.</a:t>
            </a:r>
          </a:p>
        </p:txBody>
      </p:sp>
      <p:pic>
        <p:nvPicPr>
          <p:cNvPr id="9" name="Picture 8" descr="oscuro sin fo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0" y="108000"/>
            <a:ext cx="1440000" cy="792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8000" y="6462000"/>
            <a:ext cx="79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5F0DC"/>
                </a:solidFill>
                <a:latin typeface="Calibri"/>
              </a:rPr>
              <a:t>Lic. Jean Clemotte  |  @Psico_Educa20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ntad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584328" cy="6858000"/>
          </a:xfrm>
          <a:prstGeom prst="rect">
            <a:avLst/>
          </a:prstGeom>
          <a:solidFill>
            <a:srgbClr val="1E3A5F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8000" y="648000"/>
            <a:ext cx="5760000" cy="25400"/>
          </a:xfrm>
          <a:prstGeom prst="rect">
            <a:avLst/>
          </a:prstGeom>
          <a:solidFill>
            <a:srgbClr val="E8A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8000" y="6120000"/>
            <a:ext cx="5760000" cy="25400"/>
          </a:xfrm>
          <a:prstGeom prst="rect">
            <a:avLst/>
          </a:prstGeom>
          <a:solidFill>
            <a:srgbClr val="E8A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8000" y="180000"/>
            <a:ext cx="57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CC"/>
                </a:solidFill>
                <a:latin typeface="Calibri"/>
              </a:rPr>
              <a:t>@PSICO_EDUCA20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" y="1260000"/>
            <a:ext cx="5760000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1">
                <a:solidFill>
                  <a:srgbClr val="F5F0DC"/>
                </a:solidFill>
                <a:latin typeface="Georgia"/>
              </a:rPr>
              <a:t>Gracias por
su Atención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000" y="4140000"/>
            <a:ext cx="57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A9FE0"/>
                </a:solidFill>
                <a:latin typeface="Calibri"/>
              </a:rPr>
              <a:t>Análisis Funcional de la Conducta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000" y="4968000"/>
            <a:ext cx="576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F5F0DC"/>
                </a:solidFill>
                <a:latin typeface="Calibri"/>
              </a:rPr>
              <a:t>Lic. Jean Clemotte  |  PsicoEduca</a:t>
            </a:r>
          </a:p>
        </p:txBody>
      </p:sp>
      <p:pic>
        <p:nvPicPr>
          <p:cNvPr id="10" name="Picture 9" descr="oscuro sin fond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3200" y="108000"/>
            <a:ext cx="1440000" cy="79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