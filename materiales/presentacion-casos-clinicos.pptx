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79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F0DC"/>
                </a:solidFill>
                <a:latin typeface="Georgia"/>
              </a:rPr>
              <a:t>Casos Clínicos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9FE0"/>
                </a:solidFill>
                <a:latin typeface="Calibri"/>
              </a:rPr>
              <a:t>Práctica del Análisis Funcional paso a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2808000"/>
            <a:ext cx="720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06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Calibri"/>
              </a:rPr>
              <a:t>5 casos clínicos contextualizados — Paraguay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671999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AA"/>
                </a:solidFill>
                <a:latin typeface="Georgia"/>
              </a:rPr>
              <a:t>Unidad 4 — Froxán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200" y="900000"/>
            <a:ext cx="25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2B4A6E"/>
                </a:solidFill>
                <a:latin typeface="Calibri"/>
              </a:rPr>
              <a:t>↓↓↓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GUÍA DE ANÁLISIS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Procedimiento: Análisis Funcional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512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E8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584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835"/>
                </a:solidFill>
                <a:latin typeface="Georgia"/>
              </a:rPr>
              <a:t>PASO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1908000"/>
            <a:ext cx="5016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Análisis morfológico — ¿Qué hace exactamente?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232000"/>
            <a:ext cx="50166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  <a:latin typeface="Calibri"/>
              </a:rPr>
              <a:t>Describí la conducta problema en términos operativos: frecuencia, duración y localización temporal.
❌ No usar etiquetas ("tiene ansiedad"). ✓ Describir qué hace, cuándo y con qué frecuencia.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600" y="1512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4A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4600" y="1584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BFB0"/>
                </a:solidFill>
                <a:latin typeface="Georgia"/>
              </a:rPr>
              <a:t>PASO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4600" y="1908000"/>
            <a:ext cx="5016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Identificar antecedentes y consecuentes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600" y="2232000"/>
            <a:ext cx="50166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  <a:latin typeface="Calibri"/>
              </a:rPr>
              <a:t>Antecedentes: ¿qué ocurre ANTES? (¿dónde está, con quién, qué piensa, qué siente?)
Consecuentes: ¿qué ocurre DESPUÉS? (¿qué obtiene, qué evita, cómo reacciona el entorno?)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3600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E8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367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835"/>
                </a:solidFill>
                <a:latin typeface="Georgia"/>
              </a:rPr>
              <a:t>PASO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3996000"/>
            <a:ext cx="5016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Variables disposicionales y motivadoras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4320000"/>
            <a:ext cx="50166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  <a:latin typeface="Calibri"/>
              </a:rPr>
              <a:t>Disposicionales (estables): edad, historia de aprendizaje, reglas, entorno social.
Motivadoras (cambian): estado emocional, privación, anticipaciones verbales.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600" y="3600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4A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4600" y="367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BFB0"/>
                </a:solidFill>
                <a:latin typeface="Georgia"/>
              </a:rP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600" y="3996000"/>
            <a:ext cx="5016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Hipótesis funcional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600" y="4320000"/>
            <a:ext cx="50166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  <a:latin typeface="Calibri"/>
              </a:rPr>
              <a:t>Origen: ¿cómo se aprendió? / Mantenimiento: ¿qué la sostiene HOY?
Identificá el procedimiento operante que mantiene la conducta (RF+, RN, CP, CN).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000" y="540000"/>
            <a:ext cx="1260000" cy="648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5F"/>
                </a:solidFill>
                <a:latin typeface="Georgia"/>
              </a:rPr>
              <a:t>CASO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540000"/>
            <a:ext cx="765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DC"/>
                </a:solidFill>
                <a:latin typeface="Georgia"/>
              </a:rPr>
              <a:t>Marge 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972000"/>
            <a:ext cx="765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FE0"/>
                </a:solidFill>
                <a:latin typeface="Calibri"/>
              </a:rPr>
              <a:t>39 años, ama de casa, Asunción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332000"/>
            <a:ext cx="909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5"/>
                </a:solidFill>
                <a:latin typeface="Calibri"/>
              </a:rPr>
              <a:t>Motivo de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909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"Homero la trajo porque no puede salir sola a ningún lado."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40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FB0"/>
                </a:solidFill>
                <a:latin typeface="Calibri"/>
              </a:rPr>
              <a:t>Información relevante: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90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Hace 2 años fue asaltada en el Super Stock de Villa Morra.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Desde entonces evita ir sola a supermercados, shoppings y reuniones.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Homero le propone salir, dice "me duele la cabeza" o "estoy cansada".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Si sale sola, a los 10 minutos: taquicardia, sensación de ahogo, regresa.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Con Homero presente, puede ir a cualquier lugar sin dificultad.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Homero fue asumiendo todas las compras y salidas sin quejarse.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Regla expresada: "Si salgo sola, me van a asaltar de nuevo."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El estrés del hogar (Bart, Maggie, trabajo de Homero) agudiza los síntomas.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ANÁLISIS FUNCIONAL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12000"/>
            <a:ext cx="1260000" cy="57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Georgia"/>
              </a:rPr>
              <a:t>CASO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000" y="612000"/>
            <a:ext cx="80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Georgia"/>
              </a:rPr>
              <a:t>Marge Simpson — Guía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972000"/>
            <a:ext cx="801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Aplicá el procedimiento AF paso a paso: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1296000"/>
            <a:ext cx="1053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0" y="1512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1. ¿Cuál es la conducta problema? Describila operativamente (frecuencia, duración, localización).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448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2448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2. Identificá los antecedentes (Ed) y consecuentes (C) de la conducta de evitación.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84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000" y="3384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3. ¿Qué respuesta condicionada (E-R) está presente? Identificá EI, EN/EC, RI, RC.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320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4320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4. Listá las variables disposicionales y motivadoras. Especificá cómo afectan la contingencia.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" y="5256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0" y="5256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5. Formulá la hipótesis de origen y la hipótesis de mantenimiento.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000" y="540000"/>
            <a:ext cx="1260000" cy="648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5F"/>
                </a:solidFill>
                <a:latin typeface="Georgia"/>
              </a:rPr>
              <a:t>CASO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540000"/>
            <a:ext cx="765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DC"/>
                </a:solidFill>
                <a:latin typeface="Georgia"/>
              </a:rPr>
              <a:t>Bart 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972000"/>
            <a:ext cx="765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FE0"/>
                </a:solidFill>
                <a:latin typeface="Calibri"/>
              </a:rPr>
              <a:t>10 años, estudiante, Asunción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332000"/>
            <a:ext cx="909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5"/>
                </a:solidFill>
                <a:latin typeface="Calibri"/>
              </a:rPr>
              <a:t>Motivo de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909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"Sus padres lo traen porque no puede concentrarse y hace berrinches para no estudiar."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40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FB0"/>
                </a:solidFill>
                <a:latin typeface="Calibri"/>
              </a:rPr>
              <a:t>Información relevante: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90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clase de matemáticas: interrumpe, hace bromas, tira útiles si la maestra lo llama al frente.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clase de música (no tiene notas): trabaja bien, levanta la mano, está relajado.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Antes de los exámenes: dice que le duele la panza y pide quedarse en casa.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casa, cuando le piden que estudie: llora hasta que sus padres "le dan un descanso".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Al ceder, los padres le dan el teléfono "para que se calme".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Historia: el año pasado la maestra lo ridiculizó delante de toda la clase.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falta a la clase de mate, está tranquilo el resto del día.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ANÁLISIS FUNCIONAL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12000"/>
            <a:ext cx="1260000" cy="57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Georgia"/>
              </a:rPr>
              <a:t>CASO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000" y="612000"/>
            <a:ext cx="80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Georgia"/>
              </a:rPr>
              <a:t>Bart Simpson — Guía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972000"/>
            <a:ext cx="801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Aplicá el procedimiento AF paso a paso: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1296000"/>
            <a:ext cx="1053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0" y="1512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1. Describí operativamente las conductas problema (hay más de una).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448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2448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2. Identificá qué procedimientos operantes mantienen las conductas de Bart (RF+, RN, CP, CN).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84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000" y="3384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3. ¿Cuál es el Ed+ y el Ed- para la conducta disruptiva en clase?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320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4320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4. ¿Qué papel juega el episodio de ridiculización en la hipótesis de ORIGEN?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" y="5256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0" y="5256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5. Formulá la hipótesis de mantenimiento y proponé el objetivo del tratamiento.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000" y="540000"/>
            <a:ext cx="1260000" cy="648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5F"/>
                </a:solidFill>
                <a:latin typeface="Georgia"/>
              </a:rPr>
              <a:t>CASO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540000"/>
            <a:ext cx="765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DC"/>
                </a:solidFill>
                <a:latin typeface="Georgia"/>
              </a:rPr>
              <a:t>Homero 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972000"/>
            <a:ext cx="765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FE0"/>
                </a:solidFill>
                <a:latin typeface="Calibri"/>
              </a:rPr>
              <a:t>39 años, empleado Planta Nuclear, Asunción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332000"/>
            <a:ext cx="909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5"/>
                </a:solidFill>
                <a:latin typeface="Calibri"/>
              </a:rPr>
              <a:t>Motivo de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909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"Marge lo trae porque come demasiado y no colabora en la casa."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40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FB0"/>
                </a:solidFill>
                <a:latin typeface="Calibri"/>
              </a:rPr>
              <a:t>Información relevante: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90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Come donuts y papas fritas principalmente al llegar del trabajo y cuando hay tareas en casa.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Si hay tareas domésticas pendientes, va directo a la heladera antes de que Marge pida algo.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el trabajo, durante la jornada laboral, come mucho menos.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come, dice que siente que "todo es más llevadero".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Marge dejó de pedirle ayuda porque "siempre termina en discusión".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Historia: su madre le daba comida como premio o "para animarlo" cuando estaba angustiado.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Regla expresada: "Después de trabajar todo el día, me lo merezco."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ANÁLISIS FUNCIONAL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12000"/>
            <a:ext cx="1260000" cy="57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Georgia"/>
              </a:rPr>
              <a:t>CASO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000" y="612000"/>
            <a:ext cx="80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Georgia"/>
              </a:rPr>
              <a:t>Homero Simpson — Guía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972000"/>
            <a:ext cx="801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Aplicá el procedimiento AF paso a paso: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1296000"/>
            <a:ext cx="1053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0" y="1512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1. Describí la conducta problema: ¿qué hace Homero exactamente? (frecuencia, localización).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448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2448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2. ¿Qué tipo de reforzamiento mantiene la conducta de comer? ¿Y la de no colaborar?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84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000" y="3384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3. ¿Qué función cumple la regla "me lo merezco"? ¿Es Ed, variable disposicional o motivadora?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320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4320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4. ¿Qué papel juega la historia de aprendizaje (madre-comida) como variable disposicional?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" y="5256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0" y="5256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5. Formulá hipótesis de mantenimiento e identificá qué mantiene el problema de Marge también.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000" y="540000"/>
            <a:ext cx="1260000" cy="648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5F"/>
                </a:solidFill>
                <a:latin typeface="Georgia"/>
              </a:rPr>
              <a:t>CASO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540000"/>
            <a:ext cx="765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DC"/>
                </a:solidFill>
                <a:latin typeface="Georgia"/>
              </a:rPr>
              <a:t>Lisa Simpson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972000"/>
            <a:ext cx="765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FE0"/>
                </a:solidFill>
                <a:latin typeface="Calibri"/>
              </a:rPr>
              <a:t>8 años, estudiante, Asunción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332000"/>
            <a:ext cx="909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5"/>
                </a:solidFill>
                <a:latin typeface="Calibri"/>
              </a:rPr>
              <a:t>Motivo de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909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"Llora mucho antes de los exámenes y dice que no puede dormir."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40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FB0"/>
                </a:solidFill>
                <a:latin typeface="Calibri"/>
              </a:rPr>
              <a:t>Información relevante: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90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La noche antes de cualquier examen: no duerme, llora, dice "no me sé nada".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Por las mañanas de examen: náuseas o dolor de estómago.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el colegio: levanta la mano en cada pregunta; si no la llaman, se pone ansiosa.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Si saca un 9 en lugar de 10, llora cuando llega a casa.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Sus padres le dicen constantemente: "Vos podés ser la mejor, sos la más inteligente."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llora, su madre la abraza y a veces la excusa del colegio si "está muy mal".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actividades sin calificaciones (arte, música): completamente relajada y disfruta.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ANÁLISIS FUNCIONAL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12000"/>
            <a:ext cx="1260000" cy="57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Georgia"/>
              </a:rPr>
              <a:t>CASO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000" y="612000"/>
            <a:ext cx="80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Georgia"/>
              </a:rPr>
              <a:t>Lisa Simpson — Guía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972000"/>
            <a:ext cx="801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Aplicá el procedimiento AF paso a paso: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1296000"/>
            <a:ext cx="1053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0" y="1512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1. Identificá al menos 3 conductas problema diferentes. Describilas operativamente.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448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2448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2. ¿Qué respuesta condicionada está presente? Identificá los elementos del CC.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84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000" y="3384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3. ¿Qué consecuentes mantienen las conductas de ansiedad? (RF+, RN, CP, CN)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320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4320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4. ¿Qué variables disposicionales están operando? ¿Cuáles son motivadoras?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" y="5256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0" y="5256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5. ¿Cómo el comportamiento de los padres actúa como consecuente? ¿Qué implicaciones tiene para el tratamiento?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000" y="540000"/>
            <a:ext cx="1260000" cy="648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5F"/>
                </a:solidFill>
                <a:latin typeface="Georgia"/>
              </a:rPr>
              <a:t>CASO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540000"/>
            <a:ext cx="765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DC"/>
                </a:solidFill>
                <a:latin typeface="Georgia"/>
              </a:rPr>
              <a:t>Carlos (caso paraguayo)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972000"/>
            <a:ext cx="765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FE0"/>
                </a:solidFill>
                <a:latin typeface="Calibri"/>
              </a:rPr>
              <a:t>28 años, contador, Asunción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332000"/>
            <a:ext cx="909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5"/>
                </a:solidFill>
                <a:latin typeface="Calibri"/>
              </a:rPr>
              <a:t>Motivo de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909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"Tengo ansiedad. No puedo dar presentaciones en el trabajo."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40000"/>
            <a:ext cx="90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FB0"/>
                </a:solidFill>
                <a:latin typeface="Calibri"/>
              </a:rPr>
              <a:t>Información relevante: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90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Días previos a presentar ante jefes: no duerme bien, come poco, pensamientos repetitivos.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Día de la presentación: taquicardia, manos sudadas, voz temblorosa.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Ha pedido "cambiar" sus presentaciones con colegas varias veces ("estoy ocupado").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logra evitar una presentación, siente alivio inmediato y duerme bien esa noche.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Cuando inevitablemente presenta, termina sin problema y sus colegas lo felicitan.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En contextos informales (asado, fútbol, chopp con amigos): "es el más payaso del grupo".</a:t>
            </a:r>
          </a:p>
          <a:p>
            <a:pPr algn="l"/>
            <a:r>
              <a:rPr sz="1300">
                <a:solidFill>
                  <a:srgbClr val="F5F0DC"/>
                </a:solidFill>
                <a:latin typeface="Calibri"/>
              </a:rPr>
              <a:t>• Historia: en la universidad, un profesor lo ridiculizó públicamente durante una exposición.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CASOS CLÍNICOS — ANÁLISIS FUNCIONAL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12000"/>
            <a:ext cx="1260000" cy="57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Georgia"/>
              </a:rPr>
              <a:t>CASO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000" y="612000"/>
            <a:ext cx="801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Georgia"/>
              </a:rPr>
              <a:t>Carlos (caso paraguayo) — Guía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972000"/>
            <a:ext cx="801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Aplicá el procedimiento AF paso a paso: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1296000"/>
            <a:ext cx="105372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512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0" y="1512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1. Describí la conducta problema operativamente. ¿Es una o son varias? ¿Hay conducta E-R y E-R-C?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448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" y="2448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2. Identificá el EI, EC, RI y RC. ¿Cuándo ocurrió el condicionamiento?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84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000" y="3384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3. ¿Qué mantiene la conducta de evitación? ¿Y qué la debilitaría?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320000"/>
            <a:ext cx="251999" cy="827999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4320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4. ¿Qué variables disposicionales y motivadoras están presentes en el caso de Carlos?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" y="5256000"/>
            <a:ext cx="251999" cy="827999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0DC"/>
                </a:solidFill>
                <a:latin typeface="Georg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0" y="5256000"/>
            <a:ext cx="10249200" cy="827999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CCC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5. Formulá la hipótesis de mantenimiento y proponé el foco del tratamiento.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4328" cy="6858000"/>
          </a:xfrm>
          <a:prstGeom prst="rect">
            <a:avLst/>
          </a:prstGeom>
          <a:solidFill>
            <a:srgbClr val="1E3A5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648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120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260000"/>
            <a:ext cx="57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1">
                <a:solidFill>
                  <a:srgbClr val="F5F0DC"/>
                </a:solidFill>
                <a:latin typeface="Georgia"/>
              </a:rPr>
              <a:t>Gracias por
su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14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FE0"/>
                </a:solidFill>
                <a:latin typeface="Calibri"/>
              </a:rPr>
              <a:t>Casos Clínicos — Análisis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968000"/>
            <a:ext cx="57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0DC"/>
                </a:solidFill>
                <a:latin typeface="Calibri"/>
              </a:rPr>
              <a:t>Lic. Jean Clemotte  |  PsicoEduca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