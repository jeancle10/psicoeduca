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73200" y="540000"/>
            <a:ext cx="216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0" b="1" i="0">
                <a:solidFill>
                  <a:srgbClr val="E8A835"/>
                </a:solidFill>
                <a:latin typeface="Georgia"/>
              </a:rPr>
              <a:t>?</a:t>
            </a:r>
          </a:p>
        </p:txBody>
      </p:sp>
      <p:sp>
        <p:nvSpPr>
          <p:cNvPr id="3" name="Rectangle 2"/>
          <p:cNvSpPr/>
          <p:nvPr/>
        </p:nvSpPr>
        <p:spPr>
          <a:xfrm>
            <a:off x="9673200" y="540000"/>
            <a:ext cx="2160000" cy="3240000"/>
          </a:xfrm>
          <a:prstGeom prst="rect">
            <a:avLst/>
          </a:prstGeom>
          <a:solidFill>
            <a:srgbClr val="1E3A5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900000"/>
            <a:ext cx="792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5F0DC"/>
                </a:solidFill>
                <a:latin typeface="Georgia"/>
              </a:rPr>
              <a:t>¿Puede la mente
causar el
comportamiento?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4320000"/>
            <a:ext cx="6480000" cy="38100"/>
          </a:xfrm>
          <a:prstGeom prst="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8000" y="4608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A9FE0"/>
                </a:solidFill>
                <a:latin typeface="Calibri"/>
              </a:rPr>
              <a:t>Bases filosóficas del Análisis de la Conducta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5220000"/>
            <a:ext cx="64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BBCC"/>
                </a:solidFill>
                <a:latin typeface="Calibri"/>
              </a:rPr>
              <a:t>Froxán et al. — Capítulo 3</a:t>
            </a:r>
          </a:p>
        </p:txBody>
      </p:sp>
      <p:pic>
        <p:nvPicPr>
          <p:cNvPr id="8" name="Picture 7" descr="oscu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F0DC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EA7"/>
                </a:solidFill>
                <a:latin typeface="Calibri"/>
              </a:rPr>
              <a:t>BASES FILOSÓFICAS DEL ANÁLISIS DE LA CONDUCTA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68000"/>
            <a:ext cx="7920000" cy="1270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12000"/>
            <a:ext cx="9277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3A5F"/>
                </a:solidFill>
                <a:latin typeface="Georgia"/>
              </a:rPr>
              <a:t>Homero va al psicólogo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512000"/>
            <a:ext cx="648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1E3A5F"/>
                </a:solidFill>
                <a:latin typeface="Calibri"/>
              </a:rPr>
              <a:t>"El psicólogo dice: Homero tiene</a:t>
            </a:r>
          </a:p>
          <a:p>
            <a:pPr algn="l"/>
            <a:r>
              <a:rPr sz="1600" b="0" i="1">
                <a:solidFill>
                  <a:srgbClr val="1E3A5F"/>
                </a:solidFill>
                <a:latin typeface="Calibri"/>
              </a:rPr>
              <a:t>personalidad impulsiva, baja autoestima</a:t>
            </a:r>
          </a:p>
          <a:p>
            <a:pPr algn="l"/>
            <a:r>
              <a:rPr sz="1600" b="0" i="1">
                <a:solidFill>
                  <a:srgbClr val="1E3A5F"/>
                </a:solidFill>
                <a:latin typeface="Calibri"/>
              </a:rPr>
              <a:t>y conducta compulsiva."</a:t>
            </a:r>
          </a:p>
          <a:p>
            <a:pPr algn="l"/>
            <a:r>
              <a:rPr sz="1600">
                <a:solidFill>
                  <a:srgbClr val="1E3A5F"/>
                </a:solidFill>
                <a:latin typeface="Calibri"/>
              </a:rPr>
              <a:t> </a:t>
            </a:r>
          </a:p>
          <a:p>
            <a:pPr algn="l"/>
            <a:r>
              <a:rPr sz="1700" b="1" i="0">
                <a:solidFill>
                  <a:srgbClr val="1E3A5F"/>
                </a:solidFill>
                <a:latin typeface="Calibri"/>
              </a:rPr>
              <a:t>¿Eso explica por qué come donuts?</a:t>
            </a:r>
          </a:p>
          <a:p>
            <a:pPr algn="l"/>
            <a:r>
              <a:rPr sz="1700" b="1" i="0">
                <a:solidFill>
                  <a:srgbClr val="1E3A5F"/>
                </a:solidFill>
                <a:latin typeface="Calibri"/>
              </a:rPr>
              <a:t>¿Eso nos dice qué cambiar?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3200" y="1980000"/>
            <a:ext cx="28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E8A835"/>
                </a:solidFill>
                <a:latin typeface="Georgia"/>
              </a:rPr>
              <a:t>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3200" y="3780000"/>
            <a:ext cx="28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B5EA7"/>
                </a:solidFill>
                <a:latin typeface="Calibri"/>
              </a:rPr>
              <a:t>Solo le
puso etiquetas.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" y="5328000"/>
            <a:ext cx="10537200" cy="38100"/>
          </a:xfrm>
          <a:prstGeom prst="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000" y="5472000"/>
            <a:ext cx="1053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B5EA7"/>
                </a:solidFill>
                <a:latin typeface="Calibri"/>
              </a:rPr>
              <a:t>Esta pregunta va a guiar toda la presentacion.</a:t>
            </a:r>
          </a:p>
        </p:txBody>
      </p:sp>
      <p:pic>
        <p:nvPicPr>
          <p:cNvPr id="10" name="Picture 9" descr="cla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EA7"/>
                </a:solidFill>
                <a:latin typeface="Calibri"/>
              </a:rPr>
              <a:t>BASES FILOSÓFICAS DEL ANÁLISIS DE LA CONDUCTA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68000"/>
            <a:ext cx="7920000" cy="1270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12000"/>
            <a:ext cx="64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3A5F"/>
                </a:solidFill>
                <a:latin typeface="Georgia"/>
              </a:rPr>
              <a:t>¿Qué vamos a ver?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620000"/>
            <a:ext cx="792000" cy="648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E8A835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55999" y="1620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5F"/>
                </a:solidFill>
                <a:latin typeface="Calibri"/>
              </a:rPr>
              <a:t>El problema mente-cuerpo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5999" y="2016000"/>
            <a:ext cx="90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5EA7"/>
                </a:solidFill>
                <a:latin typeface="Calibri"/>
              </a:rPr>
              <a:t>Folk psychology  •  Error categorial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" y="2412000"/>
            <a:ext cx="10537200" cy="12700"/>
          </a:xfrm>
          <a:prstGeom prst="rect">
            <a:avLst/>
          </a:prstGeom>
          <a:solidFill>
            <a:srgbClr val="CCC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8000" y="3060000"/>
            <a:ext cx="792000" cy="648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E8A835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5999" y="3060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5F"/>
                </a:solidFill>
                <a:latin typeface="Calibri"/>
              </a:rPr>
              <a:t>¿Qué significa "lo mental"?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5999" y="3456000"/>
            <a:ext cx="90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5EA7"/>
                </a:solidFill>
                <a:latin typeface="Calibri"/>
              </a:rPr>
              <a:t>Descriptivismo  •  Anti-descriptivismo  •  2 tipos de explicacion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8000" y="3852000"/>
            <a:ext cx="10537200" cy="12700"/>
          </a:xfrm>
          <a:prstGeom prst="rect">
            <a:avLst/>
          </a:prstGeom>
          <a:solidFill>
            <a:srgbClr val="CCC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8000" y="4500000"/>
            <a:ext cx="792000" cy="648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E8A835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5999" y="4500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5F"/>
                </a:solidFill>
                <a:latin typeface="Calibri"/>
              </a:rPr>
              <a:t>El AF como ciencia natural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999" y="4896000"/>
            <a:ext cx="90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5EA7"/>
                </a:solidFill>
                <a:latin typeface="Calibri"/>
              </a:rPr>
              <a:t>Nivel agencial  •  Pensamiento como conducta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5940000"/>
            <a:ext cx="10537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B5EA7"/>
                </a:solidFill>
                <a:latin typeface="Calibri"/>
              </a:rPr>
              <a:t>Caso guia: Homero Simpson  —  Asuncion, Paraguay</a:t>
            </a:r>
          </a:p>
        </p:txBody>
      </p:sp>
      <p:pic>
        <p:nvPicPr>
          <p:cNvPr id="17" name="Picture 16" descr="cla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260000"/>
            <a:ext cx="180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E8A835"/>
                </a:solidFill>
                <a:latin typeface="Georg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28000" y="1620000"/>
            <a:ext cx="87372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5F0DC"/>
                </a:solidFill>
                <a:latin typeface="Georgia"/>
              </a:rPr>
              <a:t>El problema
mente-cuerpo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28000" y="3240000"/>
            <a:ext cx="8737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A9FE0"/>
                </a:solidFill>
                <a:latin typeface="Calibri"/>
              </a:rPr>
              <a:t>Folk psychology  •  Error categorial  •  Dos imágenes del mundo</a:t>
            </a:r>
          </a:p>
        </p:txBody>
      </p:sp>
      <p:pic>
        <p:nvPicPr>
          <p:cNvPr id="5" name="Picture 4" descr="oscu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F0DC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EA7"/>
                </a:solidFill>
                <a:latin typeface="Calibri"/>
              </a:rPr>
              <a:t>BLOQUE 01 — EL PROBLEMA MENTE-CUERPO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68000"/>
            <a:ext cx="7920000" cy="1270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12000"/>
            <a:ext cx="927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3A5F"/>
                </a:solidFill>
                <a:latin typeface="Georgia"/>
              </a:rPr>
              <a:t>Así explicamos el comportamiento en la vida cotidiana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512000"/>
            <a:ext cx="5232600" cy="1007999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2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1E3A5F"/>
                </a:solidFill>
                <a:latin typeface="Calibri"/>
              </a:rPr>
              <a:t>"Homero come donuts</a:t>
            </a:r>
            <a:r>
              <a:rPr sz="1300" b="1">
                <a:solidFill>
                  <a:srgbClr val="E8A835"/>
                </a:solidFill>
                <a:latin typeface="Calibri"/>
              </a:rPr>
              <a:t>PORQUE le gustan y no tiene voluntad."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600" y="1512000"/>
            <a:ext cx="5232600" cy="1007999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2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1E3A5F"/>
                </a:solidFill>
                <a:latin typeface="Calibri"/>
              </a:rPr>
              <a:t>"Lisa estudia </a:t>
            </a:r>
            <a:r>
              <a:rPr sz="1300" b="1">
                <a:solidFill>
                  <a:srgbClr val="E8A835"/>
                </a:solidFill>
                <a:latin typeface="Calibri"/>
              </a:rPr>
              <a:t>PORQUE desea ser médica."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8000" y="2664000"/>
            <a:ext cx="5232600" cy="1007999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2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1E3A5F"/>
                </a:solidFill>
                <a:latin typeface="Calibri"/>
              </a:rPr>
              <a:t>"Bart molesta </a:t>
            </a:r>
            <a:r>
              <a:rPr sz="1300" b="1">
                <a:solidFill>
                  <a:srgbClr val="E8A835"/>
                </a:solidFill>
                <a:latin typeface="Calibri"/>
              </a:rPr>
              <a:t>PORQUE es travieso y busca atención."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600" y="2664000"/>
            <a:ext cx="5232600" cy="1007999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2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1E3A5F"/>
                </a:solidFill>
                <a:latin typeface="Calibri"/>
              </a:rPr>
              <a:t>"Marge aguanta </a:t>
            </a:r>
            <a:r>
              <a:rPr sz="1300" b="1">
                <a:solidFill>
                  <a:srgbClr val="E8A835"/>
                </a:solidFill>
                <a:latin typeface="Calibri"/>
              </a:rPr>
              <a:t>PORQUE ama a su familia."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4140000"/>
            <a:ext cx="10537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5EA7"/>
                </a:solidFill>
                <a:latin typeface="Calibri"/>
              </a:rPr>
              <a:t>Esto es la "Folk Psychology" (Sellars, 1956):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4500000"/>
            <a:ext cx="10537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3A5F"/>
                </a:solidFill>
                <a:latin typeface="Calibri"/>
              </a:rPr>
              <a:t>explicar el comportamiento con CREENCIAS, DESEOS e INTENCIONES.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4968000"/>
            <a:ext cx="1053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B5EA7"/>
                </a:solidFill>
                <a:latin typeface="Calibri"/>
              </a:rPr>
              <a:t>¿Son estas explicaciones CIENTIFICAS? ¿Nos dicen las CAUSAS del comportamiento?</a:t>
            </a:r>
          </a:p>
        </p:txBody>
      </p:sp>
      <p:pic>
        <p:nvPicPr>
          <p:cNvPr id="12" name="Picture 11" descr="cla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EA7"/>
                </a:solidFill>
                <a:latin typeface="Calibri"/>
              </a:rPr>
              <a:t>BLOQUE 01 — EL PROBLEMA MENTE-CUERPO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68000"/>
            <a:ext cx="7920000" cy="1270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12000"/>
            <a:ext cx="927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Georgia"/>
              </a:rPr>
              <a:t>Dos formas de ver el mismo comportamiento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440000"/>
            <a:ext cx="5232600" cy="540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DC"/>
                </a:solidFill>
                <a:latin typeface="Calibri"/>
              </a:rPr>
              <a:t>IMAGEN MANIFIESTA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088000"/>
            <a:ext cx="52326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3A5F"/>
                </a:solidFill>
                <a:latin typeface="Calibri"/>
              </a:rPr>
              <a:t>"Homero come donuts porque los desea</a:t>
            </a:r>
          </a:p>
          <a:p>
            <a:pPr algn="l"/>
            <a:r>
              <a:rPr sz="1400" b="0" i="0">
                <a:solidFill>
                  <a:srgbClr val="1E3A5F"/>
                </a:solidFill>
                <a:latin typeface="Calibri"/>
              </a:rPr>
              <a:t> y no tiene autocontrol."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 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Explica con RAZONES:</a:t>
            </a:r>
          </a:p>
          <a:p>
            <a:pPr algn="l"/>
            <a:r>
              <a:rPr sz="1400" b="1" i="0">
                <a:solidFill>
                  <a:srgbClr val="E8A835"/>
                </a:solidFill>
                <a:latin typeface="Calibri"/>
              </a:rPr>
              <a:t>creencias, deseos, intenciones.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 </a:t>
            </a:r>
          </a:p>
          <a:p>
            <a:pPr algn="l"/>
            <a:r>
              <a:rPr sz="1300" b="0" i="0">
                <a:solidFill>
                  <a:srgbClr val="2B5EA7"/>
                </a:solidFill>
                <a:latin typeface="Calibri"/>
              </a:rPr>
              <a:t>Util para evaluar si el comportamiento
es racional o irracional.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600" y="1440000"/>
            <a:ext cx="5232600" cy="540000"/>
          </a:xfrm>
          <a:prstGeom prst="round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DC"/>
                </a:solidFill>
                <a:latin typeface="Calibri"/>
              </a:rPr>
              <a:t>IMAGEN CIENTIFICA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600" y="2088000"/>
            <a:ext cx="52326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3A5F"/>
                </a:solidFill>
                <a:latin typeface="Calibri"/>
              </a:rPr>
              <a:t>"Homero come donuts porque comer donuts</a:t>
            </a:r>
          </a:p>
          <a:p>
            <a:pPr algn="l"/>
            <a:r>
              <a:rPr sz="1400" b="0" i="0">
                <a:solidFill>
                  <a:srgbClr val="1E3A5F"/>
                </a:solidFill>
                <a:latin typeface="Calibri"/>
              </a:rPr>
              <a:t> fue reforzado en su historia."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 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Explica con CAUSAS:</a:t>
            </a:r>
          </a:p>
          <a:p>
            <a:pPr algn="l"/>
            <a:r>
              <a:rPr sz="1400" b="1" i="0">
                <a:solidFill>
                  <a:srgbClr val="4ABFB0"/>
                </a:solidFill>
                <a:latin typeface="Calibri"/>
              </a:rPr>
              <a:t>contingencias, historia de aprendizaje.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 </a:t>
            </a:r>
          </a:p>
          <a:p>
            <a:pPr algn="l"/>
            <a:r>
              <a:rPr sz="1300" b="0" i="0">
                <a:solidFill>
                  <a:srgbClr val="2B5EA7"/>
                </a:solidFill>
                <a:latin typeface="Calibri"/>
              </a:rPr>
              <a:t>Util para MODIFICAR el comportamiento.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000" y="5400000"/>
            <a:ext cx="10537200" cy="38100"/>
          </a:xfrm>
          <a:prstGeom prst="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000" y="5544000"/>
            <a:ext cx="1053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5EA7"/>
                </a:solidFill>
                <a:latin typeface="Calibri"/>
              </a:rPr>
              <a:t>La ciencia del comportamiento necesita explicaciones CAUSALES, no solo evaluativas.</a:t>
            </a:r>
          </a:p>
        </p:txBody>
      </p:sp>
      <p:pic>
        <p:nvPicPr>
          <p:cNvPr id="11" name="Picture 10" descr="cla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EA7"/>
                </a:solidFill>
                <a:latin typeface="Calibri"/>
              </a:rPr>
              <a:t>BLOQUE 01 — EL PROBLEMA MENTE-CUERPO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68000"/>
            <a:ext cx="7920000" cy="1270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12000"/>
            <a:ext cx="927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  <a:latin typeface="Georgia"/>
              </a:rPr>
              <a:t>"El fantasma en la máquina" — Gilbert Ryle (1949)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53200" y="1260000"/>
            <a:ext cx="18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 i="0">
                <a:solidFill>
                  <a:srgbClr val="DD4444"/>
                </a:solidFill>
                <a:latin typeface="Georgia"/>
              </a:rPr>
              <a:t>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8000" y="1512000"/>
          <a:ext cx="7560000" cy="34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0000"/>
                <a:gridCol w="3780000"/>
              </a:tblGrid>
              <a:tr h="8550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5F0DC"/>
                          </a:solidFill>
                          <a:latin typeface="Calibri"/>
                        </a:rPr>
                        <a:t>El error conceptual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5F0DC"/>
                          </a:solidFill>
                          <a:latin typeface="Calibri"/>
                        </a:rPr>
                        <a:t>Por que es un problema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855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5F"/>
                          </a:solidFill>
                          <a:latin typeface="Calibri"/>
                        </a:rPr>
                        <a:t>La mente se concibe como UNA COSA dentro del cuerpo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1E3A5F"/>
                          </a:solidFill>
                          <a:latin typeface="Calibri"/>
                        </a:rPr>
                        <a:t>(como si Homero tuviera un "motor de voluntad" adentro)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5F"/>
                          </a:solidFill>
                          <a:latin typeface="Calibri"/>
                        </a:rPr>
                        <a:t>La conducta no puede explicarse por algo que, por definición,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1E3A5F"/>
                          </a:solidFill>
                          <a:latin typeface="Calibri"/>
                        </a:rPr>
                        <a:t>nadie puede observar ni medir directamente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</a:tr>
              <a:tr h="855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5F"/>
                          </a:solidFill>
                          <a:latin typeface="Calibri"/>
                        </a:rPr>
                        <a:t>"Homero tiene baja autoestima"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1E3A5F"/>
                          </a:solidFill>
                          <a:latin typeface="Calibri"/>
                        </a:rPr>
                        <a:t>suena a describir una cosa real</a:t>
                      </a:r>
                    </a:p>
                  </a:txBody>
                  <a:tcPr>
                    <a:solidFill>
                      <a:srgbClr val="E0D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5F"/>
                          </a:solidFill>
                          <a:latin typeface="Calibri"/>
                        </a:rPr>
                        <a:t>En realidad es una EVALUACION de su comportamiento: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1E3A5F"/>
                          </a:solidFill>
                          <a:latin typeface="Calibri"/>
                        </a:rPr>
                        <a:t>decimos que su conducta se desvía de una norma</a:t>
                      </a:r>
                    </a:p>
                  </a:txBody>
                  <a:tcPr>
                    <a:solidFill>
                      <a:srgbClr val="E0DBD0"/>
                    </a:solidFill>
                  </a:tcPr>
                </a:tc>
              </a:tr>
              <a:tr h="855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5F"/>
                          </a:solidFill>
                          <a:latin typeface="Calibri"/>
                        </a:rPr>
                        <a:t>La neurociencia busca "la voluntad" o "la autoestima"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1E3A5F"/>
                          </a:solidFill>
                          <a:latin typeface="Calibri"/>
                        </a:rPr>
                        <a:t>subiendo a nivel subagencial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5F"/>
                          </a:solidFill>
                          <a:latin typeface="Calibri"/>
                        </a:rPr>
                        <a:t>Los conceptos mentales son irreducibles a estados cerebrales: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1E3A5F"/>
                          </a:solidFill>
                          <a:latin typeface="Calibri"/>
                        </a:rPr>
                        <a:t>son categorías distintas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8000" y="5220000"/>
            <a:ext cx="10537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5EA7"/>
                </a:solidFill>
                <a:latin typeface="Calibri"/>
              </a:rPr>
              <a:t>Concebir la mente como una "cosa" que CAUSA el comportamiento es un ERROR CATEGORIAL.</a:t>
            </a:r>
          </a:p>
        </p:txBody>
      </p:sp>
      <p:pic>
        <p:nvPicPr>
          <p:cNvPr id="8" name="Picture 7" descr="cla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260000"/>
            <a:ext cx="180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E8A835"/>
                </a:solidFill>
                <a:latin typeface="Georg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28000" y="1620000"/>
            <a:ext cx="87372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5F0DC"/>
                </a:solidFill>
                <a:latin typeface="Georgia"/>
              </a:rPr>
              <a:t>¿Qué significa
"lo mental"?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28000" y="3240000"/>
            <a:ext cx="8737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A9FE0"/>
                </a:solidFill>
                <a:latin typeface="Calibri"/>
              </a:rPr>
              <a:t>Descriptivismo  •  Anti-descriptivismo  •  Wittgenstein</a:t>
            </a:r>
          </a:p>
        </p:txBody>
      </p:sp>
      <p:pic>
        <p:nvPicPr>
          <p:cNvPr id="5" name="Picture 4" descr="oscu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F0DC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EA7"/>
                </a:solidFill>
                <a:latin typeface="Calibri"/>
              </a:rPr>
              <a:t>BLOQUE 02 — ¿QUE SIGNIFICA "LO MENTAL"?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68000"/>
            <a:ext cx="7920000" cy="1270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12000"/>
            <a:ext cx="927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Georgia"/>
              </a:rPr>
              <a:t>El problema del descriptivismo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440000"/>
            <a:ext cx="1053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5EA7"/>
                </a:solidFill>
                <a:latin typeface="Calibri"/>
              </a:rPr>
              <a:t>Si "Homero cree que los donuts son deliciosos"... ¿a qué HECHO se refiere esa oración?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000" y="1980000"/>
            <a:ext cx="5232600" cy="468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E8A835"/>
                </a:solidFill>
                <a:latin typeface="Calibri"/>
              </a:rPr>
              <a:t>REDUCCIONISMO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556000"/>
            <a:ext cx="52326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Lo mental = estados cerebrales.</a:t>
            </a:r>
          </a:p>
          <a:p>
            <a:pPr algn="l"/>
            <a:r>
              <a:rPr sz="1400" b="0" i="1">
                <a:solidFill>
                  <a:srgbClr val="1E3A5F"/>
                </a:solidFill>
                <a:latin typeface="Calibri"/>
              </a:rPr>
              <a:t>"Baja serotonina → come donuts"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 </a:t>
            </a:r>
          </a:p>
          <a:p>
            <a:pPr algn="l"/>
            <a:r>
              <a:rPr sz="1400" b="1" i="0">
                <a:solidFill>
                  <a:srgbClr val="E8A835"/>
                </a:solidFill>
                <a:latin typeface="Calibri"/>
              </a:rPr>
              <a:t>Problema: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Realización múltiple — distintos estados cerebrales
pueden producir la misma conducta.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600" y="1980000"/>
            <a:ext cx="5232600" cy="468000"/>
          </a:xfrm>
          <a:prstGeom prst="round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4ABFB0"/>
                </a:solidFill>
                <a:latin typeface="Calibri"/>
              </a:rPr>
              <a:t>ELIMINATIVISMO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600" y="2556000"/>
            <a:ext cx="52326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Lo mental no existe.</a:t>
            </a:r>
          </a:p>
          <a:p>
            <a:pPr algn="l"/>
            <a:r>
              <a:rPr sz="1400" b="0" i="1">
                <a:solidFill>
                  <a:srgbClr val="1E3A5F"/>
                </a:solidFill>
                <a:latin typeface="Calibri"/>
              </a:rPr>
              <a:t>"La autoestima es pseudociencia"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 </a:t>
            </a:r>
          </a:p>
          <a:p>
            <a:pPr algn="l"/>
            <a:r>
              <a:rPr sz="1400" b="1" i="0">
                <a:solidFill>
                  <a:srgbClr val="4ABFB0"/>
                </a:solidFill>
                <a:latin typeface="Calibri"/>
              </a:rPr>
              <a:t>Problema: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Pierde la capacidad de decir que Homero
actua IRRACIONALMENTE.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5400000"/>
            <a:ext cx="1053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2B5EA7"/>
                </a:solidFill>
                <a:latin typeface="Calibri"/>
              </a:rPr>
              <a:t>Ambas estrategias fracasan. Lo mental NO es un hecho que se puede describir como una silla o un átomo.</a:t>
            </a:r>
          </a:p>
        </p:txBody>
      </p:sp>
      <p:pic>
        <p:nvPicPr>
          <p:cNvPr id="11" name="Picture 10" descr="cla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EA7"/>
                </a:solidFill>
                <a:latin typeface="Calibri"/>
              </a:rPr>
              <a:t>BLOQUE 02 — ¿QUE SIGNIFICA "LO MENTAL"?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68000"/>
            <a:ext cx="7920000" cy="1270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12000"/>
            <a:ext cx="927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3A5F"/>
                </a:solidFill>
                <a:latin typeface="Georgia"/>
              </a:rPr>
              <a:t>Anti-descriptivismo: el significado depende del USO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440000"/>
            <a:ext cx="10537200" cy="14400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F5F0DC"/>
                </a:solidFill>
                <a:latin typeface="Georgia"/>
              </a:rPr>
              <a:t>"El significado de cualquier expresión depende de las normas que rigen su uso,
no de su capacidad para representar el mundo."
— Wittgenstein, Investigaciones filosóficas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" y="1440000"/>
            <a:ext cx="0" cy="0"/>
          </a:xfrm>
          <a:prstGeom prst="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8000" y="1440000"/>
            <a:ext cx="101600" cy="1440000"/>
          </a:xfrm>
          <a:prstGeom prst="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" y="3168000"/>
            <a:ext cx="10537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5EA7"/>
                </a:solidFill>
                <a:latin typeface="Calibri"/>
              </a:rPr>
              <a:t>Aplicado a Homero: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3528000"/>
            <a:ext cx="105372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1E3A5F"/>
                </a:solidFill>
                <a:latin typeface="Calibri"/>
              </a:rPr>
              <a:t>"Homero cree que los donuts son deliciosos"</a:t>
            </a:r>
          </a:p>
          <a:p>
            <a:pPr algn="l"/>
            <a:r>
              <a:rPr sz="1500" b="0" i="0">
                <a:solidFill>
                  <a:srgbClr val="1E3A5F"/>
                </a:solidFill>
                <a:latin typeface="Calibri"/>
              </a:rPr>
              <a:t>no describe un objeto mental.</a:t>
            </a:r>
          </a:p>
          <a:p>
            <a:pPr algn="l"/>
            <a:r>
              <a:rPr sz="1500" b="1" i="0">
                <a:solidFill>
                  <a:srgbClr val="E8A835"/>
                </a:solidFill>
                <a:latin typeface="Calibri"/>
              </a:rPr>
              <a:t>Nos dice QUE ESPERAR de Homero:</a:t>
            </a:r>
          </a:p>
          <a:p>
            <a:pPr algn="l"/>
            <a:r>
              <a:rPr sz="1400" b="0" i="1">
                <a:solidFill>
                  <a:srgbClr val="1E3A5F"/>
                </a:solidFill>
                <a:latin typeface="Calibri"/>
              </a:rPr>
              <a:t>→ elegirá donuts, hablará de donuts, irá al Super Stock a buscarlos.</a:t>
            </a:r>
          </a:p>
          <a:p>
            <a:pPr algn="l"/>
            <a:r>
              <a:rPr sz="1500">
                <a:solidFill>
                  <a:srgbClr val="1E3A5F"/>
                </a:solidFill>
                <a:latin typeface="Calibri"/>
              </a:rPr>
              <a:t> </a:t>
            </a:r>
          </a:p>
          <a:p>
            <a:pPr algn="l"/>
            <a:r>
              <a:rPr sz="1500" b="1" i="0">
                <a:solidFill>
                  <a:srgbClr val="1E3A5F"/>
                </a:solidFill>
                <a:latin typeface="Calibri"/>
              </a:rPr>
              <a:t>El significado vive en el COMPORTAMIENTO ESPERADO, no en su cabeza.</a:t>
            </a:r>
          </a:p>
        </p:txBody>
      </p:sp>
      <p:pic>
        <p:nvPicPr>
          <p:cNvPr id="10" name="Picture 9" descr="cla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EA7"/>
                </a:solidFill>
                <a:latin typeface="Calibri"/>
              </a:rPr>
              <a:t>BLOQUE 02 — ¿QUE SIGNIFICA "LO MENTAL"?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68000"/>
            <a:ext cx="7920000" cy="1270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12000"/>
            <a:ext cx="927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Georgia"/>
              </a:rPr>
              <a:t>Dos tipos de explicación del comportamiento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440000"/>
            <a:ext cx="5232600" cy="468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8A835"/>
                </a:solidFill>
                <a:latin typeface="Calibri"/>
              </a:rPr>
              <a:t>NORMATIVA  (razones)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015999"/>
            <a:ext cx="523260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E3A5F"/>
                </a:solidFill>
                <a:latin typeface="Calibri"/>
              </a:rPr>
              <a:t>"Homero no fue al trabajo porque CREYÓ que era feriado."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 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→ Evalúa si el comportamiento es racional.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→ NO explica la causa física.</a:t>
            </a:r>
          </a:p>
          <a:p>
            <a:pPr algn="l"/>
            <a:r>
              <a:rPr sz="1400" b="1" i="0">
                <a:solidFill>
                  <a:srgbClr val="E8A835"/>
                </a:solidFill>
                <a:latin typeface="Calibri"/>
              </a:rPr>
              <a:t>Usa: creencias, deseos, intenciones.</a:t>
            </a:r>
          </a:p>
          <a:p>
            <a:pPr algn="l"/>
            <a:r>
              <a:rPr sz="1300" b="0" i="1">
                <a:solidFill>
                  <a:srgbClr val="2B5EA7"/>
                </a:solidFill>
                <a:latin typeface="Calibri"/>
              </a:rPr>
              <a:t>Util para la ética y la vida cotidiana.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600" y="1440000"/>
            <a:ext cx="5232600" cy="468000"/>
          </a:xfrm>
          <a:prstGeom prst="round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4ABFB0"/>
                </a:solidFill>
                <a:latin typeface="Calibri"/>
              </a:rPr>
              <a:t>NOMOLÓGICA  (causas)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600" y="2015999"/>
            <a:ext cx="523260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E3A5F"/>
                </a:solidFill>
                <a:latin typeface="Calibri"/>
              </a:rPr>
              <a:t>"Homero no fue al trabajo porque faltar tuvo consecuencias reforzantes en el pasado."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 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→ Establece las CAUSAS del comportamiento.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→ Permite PREDECIR y MODIFICAR la conducta.</a:t>
            </a:r>
          </a:p>
          <a:p>
            <a:pPr algn="l"/>
            <a:r>
              <a:rPr sz="1400" b="1" i="0">
                <a:solidFill>
                  <a:srgbClr val="4ABFB0"/>
                </a:solidFill>
                <a:latin typeface="Calibri"/>
              </a:rPr>
              <a:t>Usa: contingencias, historia de aprendizaje.</a:t>
            </a:r>
          </a:p>
          <a:p>
            <a:pPr algn="l"/>
            <a:r>
              <a:rPr sz="1300" b="0" i="1">
                <a:solidFill>
                  <a:srgbClr val="2B5EA7"/>
                </a:solidFill>
                <a:latin typeface="Calibri"/>
              </a:rPr>
              <a:t>Util para la intervención psicológica.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5400000"/>
            <a:ext cx="1053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1">
                <a:solidFill>
                  <a:srgbClr val="2B5EA7"/>
                </a:solidFill>
                <a:latin typeface="Calibri"/>
              </a:rPr>
              <a:t>La psicología clínica necesita las DOS — pero sin confundirlas.</a:t>
            </a:r>
          </a:p>
        </p:txBody>
      </p:sp>
      <p:pic>
        <p:nvPicPr>
          <p:cNvPr id="10" name="Picture 9" descr="cla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260000"/>
            <a:ext cx="180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E8A835"/>
                </a:solidFill>
                <a:latin typeface="Georg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28000" y="1620000"/>
            <a:ext cx="87372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5F0DC"/>
                </a:solidFill>
                <a:latin typeface="Georgia"/>
              </a:rPr>
              <a:t>El Análisis de la
Conducta como
ciencia natural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28000" y="3240000"/>
            <a:ext cx="8737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A9FE0"/>
                </a:solidFill>
                <a:latin typeface="Calibri"/>
              </a:rPr>
              <a:t>Niveles de análisis  •  Pensamiento como conducta</a:t>
            </a:r>
          </a:p>
        </p:txBody>
      </p:sp>
      <p:pic>
        <p:nvPicPr>
          <p:cNvPr id="5" name="Picture 4" descr="oscu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F0DC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EA7"/>
                </a:solidFill>
                <a:latin typeface="Calibri"/>
              </a:rPr>
              <a:t>BLOQUE 03 — EL AF COMO CIENCIA NATURAL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68000"/>
            <a:ext cx="7920000" cy="1270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12000"/>
            <a:ext cx="927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Georgia"/>
              </a:rPr>
              <a:t>¿Desde qué nivel explicamos la conducta?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440000"/>
            <a:ext cx="5232600" cy="468000"/>
          </a:xfrm>
          <a:prstGeom prst="roundRect">
            <a:avLst/>
          </a:prstGeom>
          <a:solidFill>
            <a:srgbClr val="33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DC"/>
                </a:solidFill>
                <a:latin typeface="Calibri"/>
              </a:rPr>
              <a:t>SUBAGENCIAL  (neurociencia)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015999"/>
            <a:ext cx="52326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Estudia lo que ocurre DENTRO del organismo.</a:t>
            </a:r>
          </a:p>
          <a:p>
            <a:pPr algn="l"/>
            <a:r>
              <a:rPr sz="1400" b="1" i="0">
                <a:solidFill>
                  <a:srgbClr val="4A9FE0"/>
                </a:solidFill>
                <a:latin typeface="Calibri"/>
              </a:rPr>
              <a:t>Neuronas, dopamina, amígdala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Relaciones físico-contiguas.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 </a:t>
            </a:r>
          </a:p>
          <a:p>
            <a:pPr algn="l"/>
            <a:r>
              <a:rPr sz="1400" b="1" i="0">
                <a:solidFill>
                  <a:srgbClr val="E8A835"/>
                </a:solidFill>
                <a:latin typeface="Calibri"/>
              </a:rPr>
              <a:t>Limitaciones: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• No permite intervención directa sobre neuronas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• Realización múltiple: misma conducta, distintos estados cerebrales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600" y="1440000"/>
            <a:ext cx="5232600" cy="468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4ABFB0"/>
                </a:solidFill>
                <a:latin typeface="Calibri"/>
              </a:rPr>
              <a:t>AGENCIAL  (análisis de conducta)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600" y="2015999"/>
            <a:ext cx="52326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Estudia la INTERACCION entre organismo y entorno.</a:t>
            </a:r>
          </a:p>
          <a:p>
            <a:pPr algn="l"/>
            <a:r>
              <a:rPr sz="1400" b="1" i="0">
                <a:solidFill>
                  <a:srgbClr val="4ABFB0"/>
                </a:solidFill>
                <a:latin typeface="Calibri"/>
              </a:rPr>
              <a:t>Contingencias, historia de aprendizaje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Relaciones temporales-funcionales.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 </a:t>
            </a:r>
          </a:p>
          <a:p>
            <a:pPr algn="l"/>
            <a:r>
              <a:rPr sz="1400" b="1" i="0">
                <a:solidFill>
                  <a:srgbClr val="4ABFB0"/>
                </a:solidFill>
                <a:latin typeface="Calibri"/>
              </a:rPr>
              <a:t>Ventajas: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• Intervención directa sobre contingencias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• Predicción precisa del comportamiento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5508000"/>
            <a:ext cx="1053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2B5EA7"/>
                </a:solidFill>
                <a:latin typeface="Calibri"/>
              </a:rPr>
              <a:t>Ambos son válidos y COMPLEMENTARIOS — pero no reducibles entre sí.</a:t>
            </a:r>
          </a:p>
        </p:txBody>
      </p:sp>
      <p:pic>
        <p:nvPicPr>
          <p:cNvPr id="10" name="Picture 9" descr="cla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EA7"/>
                </a:solidFill>
                <a:latin typeface="Calibri"/>
              </a:rPr>
              <a:t>BLOQUE 03 — EL AF COMO CIENCIA NATURAL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68000"/>
            <a:ext cx="7920000" cy="1270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12000"/>
            <a:ext cx="927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3A5F"/>
                </a:solidFill>
                <a:latin typeface="Georgia"/>
              </a:rPr>
              <a:t>El pensamiento no CAUSA la conducta — ES conducta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512000"/>
            <a:ext cx="4680000" cy="1440000"/>
          </a:xfrm>
          <a:prstGeom prst="roundRect">
            <a:avLst/>
          </a:prstGeom>
          <a:solidFill>
            <a:srgbClr val="FFEEDD"/>
          </a:solidFill>
          <a:ln w="12700">
            <a:solidFill>
              <a:srgbClr val="DD6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E3A5F"/>
                </a:solidFill>
                <a:latin typeface="Calibri"/>
              </a:rPr>
              <a:t>Visión mentalista:
"Homero piensa: me merezco un donut"
→ ese pensamiento CAUSA que coma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08000" y="1872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CC3333"/>
                </a:solidFill>
                <a:latin typeface="Calibri"/>
              </a:rPr>
              <a:t>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8000" y="3311999"/>
            <a:ext cx="4680000" cy="1440000"/>
          </a:xfrm>
          <a:prstGeom prst="roundRect">
            <a:avLst/>
          </a:prstGeom>
          <a:solidFill>
            <a:srgbClr val="E0FFF0"/>
          </a:solidFill>
          <a:ln w="12700">
            <a:solidFill>
              <a:srgbClr val="4AB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E3A5F"/>
                </a:solidFill>
                <a:latin typeface="Calibri"/>
              </a:rPr>
              <a:t>Conductismo radical:
El pensamiento encubierto ES conducta.
No causa la conducta — forma parte de ella.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08000" y="3671999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4ABFB0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48000" y="1980000"/>
            <a:ext cx="522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5EA7"/>
                </a:solidFill>
                <a:latin typeface="Calibri"/>
              </a:rPr>
              <a:t>Implicación clínica:</a:t>
            </a:r>
          </a:p>
          <a:p>
            <a:pPr algn="l"/>
            <a:r>
              <a:rPr sz="1400" b="0" i="0">
                <a:solidFill>
                  <a:srgbClr val="1E3A5F"/>
                </a:solidFill>
                <a:latin typeface="Calibri"/>
              </a:rPr>
              <a:t>El autoinforme del paciente es un DATO, no la evidencia principal.</a:t>
            </a:r>
          </a:p>
          <a:p>
            <a:pPr algn="l"/>
            <a:r>
              <a:rPr sz="1400" b="0" i="0">
                <a:solidFill>
                  <a:srgbClr val="E8A835"/>
                </a:solidFill>
                <a:latin typeface="Calibri"/>
              </a:rPr>
              <a:t>Lo que Homero DICE puede no coincidir con lo que HACE.</a:t>
            </a:r>
          </a:p>
        </p:txBody>
      </p:sp>
      <p:pic>
        <p:nvPicPr>
          <p:cNvPr id="10" name="Picture 9" descr="cla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EA7"/>
                </a:solidFill>
                <a:latin typeface="Calibri"/>
              </a:rPr>
              <a:t>BLOQUE 03 — EL AF COMO CIENCIA NATURAL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68000"/>
            <a:ext cx="7920000" cy="1270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12000"/>
            <a:ext cx="927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  <a:latin typeface="Georgia"/>
              </a:rPr>
              <a:t>Homero: del diagnóstico al análisis filosófico-conductual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8000" y="1440000"/>
          <a:ext cx="10537200" cy="4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2400"/>
                <a:gridCol w="3512400"/>
                <a:gridCol w="3512400"/>
              </a:tblGrid>
              <a:tr h="8280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5F0DC"/>
                          </a:solidFill>
                          <a:latin typeface="Calibri"/>
                        </a:rPr>
                        <a:t>Nivel de análisis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5F0DC"/>
                          </a:solidFill>
                          <a:latin typeface="Calibri"/>
                        </a:rPr>
                        <a:t>Explicación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5F0DC"/>
                          </a:solidFill>
                          <a:latin typeface="Calibri"/>
                        </a:rPr>
                        <a:t>Utilidad clínica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828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Folk psychology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(normativa)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"Homero es impulsivo y tiene baja autoestima."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Evalúa si es racional.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No permite intervenir.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</a:tr>
              <a:tr h="828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Neurociencia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(subagencial)</a:t>
                      </a:r>
                    </a:p>
                  </a:txBody>
                  <a:tcPr>
                    <a:solidFill>
                      <a:srgbClr val="E0D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"Su sistema dopaminérgico responde al azúcar."</a:t>
                      </a:r>
                    </a:p>
                  </a:txBody>
                  <a:tcPr>
                    <a:solidFill>
                      <a:srgbClr val="E0D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Describe el sustrato biológico.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No indica cómo cambiar.</a:t>
                      </a:r>
                    </a:p>
                  </a:txBody>
                  <a:tcPr>
                    <a:solidFill>
                      <a:srgbClr val="E0DBD0"/>
                    </a:solidFill>
                  </a:tcPr>
                </a:tc>
              </a:tr>
              <a:tr h="828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Análisis de Conducta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(agencial)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Donut (Ed) → comer (R) → placer inmediato (C, RF+)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+ evitar trabajo (RN)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Explica el mantenimiento.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Diseña la intervención.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</a:tr>
              <a:tr h="828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Conducta encubierta</a:t>
                      </a:r>
                    </a:p>
                  </a:txBody>
                  <a:tcPr>
                    <a:solidFill>
                      <a:srgbClr val="E0D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"Me lo merezco" = verbalización encubierta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parte del patrón conductual</a:t>
                      </a:r>
                    </a:p>
                  </a:txBody>
                  <a:tcPr>
                    <a:solidFill>
                      <a:srgbClr val="E0D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También es objetivo de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intervención.</a:t>
                      </a:r>
                    </a:p>
                  </a:txBody>
                  <a:tcPr>
                    <a:solidFill>
                      <a:srgbClr val="E0DBD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8000" y="5868000"/>
            <a:ext cx="10537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5EA7"/>
                </a:solidFill>
                <a:latin typeface="Calibri"/>
              </a:rPr>
              <a:t>El AF no dice que Homero "tiene" algo — explica POR QUÉ hace lo que hace y CÓMO cambiarlo.</a:t>
            </a:r>
          </a:p>
        </p:txBody>
      </p:sp>
      <p:pic>
        <p:nvPicPr>
          <p:cNvPr id="7" name="Picture 6" descr="cla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927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5F0DC"/>
                </a:solidFill>
                <a:latin typeface="Georgia"/>
              </a:rPr>
              <a:t>Para llevarse hoy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620000"/>
            <a:ext cx="900000" cy="1080000"/>
          </a:xfrm>
          <a:prstGeom prst="round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1E3A5F"/>
                </a:solidFill>
                <a:latin typeface="Georgia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0" y="1728000"/>
            <a:ext cx="81972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5F0DC"/>
                </a:solidFill>
                <a:latin typeface="Calibri"/>
              </a:rPr>
              <a:t>Las atribuciones mentales son NORMATIVAS — evalúan, no explican causas.
"Tiene ansiedad" no es una explicación científica.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3060000"/>
            <a:ext cx="900000" cy="1080000"/>
          </a:xfrm>
          <a:prstGeom prst="round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1E3A5F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0" y="3168000"/>
            <a:ext cx="81972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5F0DC"/>
                </a:solidFill>
                <a:latin typeface="Calibri"/>
              </a:rPr>
              <a:t>El AF busca explicaciones NOMOLÓGICAS: contingencias que CAUSAN y MANTIENEN la conducta.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8000" y="4500000"/>
            <a:ext cx="900000" cy="1080000"/>
          </a:xfrm>
          <a:prstGeom prst="round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1E3A5F"/>
                </a:solidFill>
                <a:latin typeface="Georgia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0" y="4608000"/>
            <a:ext cx="81972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5F0DC"/>
                </a:solidFill>
                <a:latin typeface="Calibri"/>
              </a:rPr>
              <a:t>El pensamiento no causa la conducta — es parte de ella.
La evidencia clínica es el COMPORTAMIENTO, no lo que el paciente dice.</a:t>
            </a:r>
          </a:p>
        </p:txBody>
      </p:sp>
      <p:pic>
        <p:nvPicPr>
          <p:cNvPr id="9" name="Picture 8" descr="oscu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F0DC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nta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706260" cy="6858000"/>
          </a:xfrm>
          <a:prstGeom prst="rect">
            <a:avLst/>
          </a:prstGeom>
          <a:solidFill>
            <a:srgbClr val="1E3A5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8000" y="648000"/>
            <a:ext cx="5760000" cy="25400"/>
          </a:xfrm>
          <a:prstGeom prst="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8000" y="6120000"/>
            <a:ext cx="5760000" cy="25400"/>
          </a:xfrm>
          <a:prstGeom prst="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8000" y="180000"/>
            <a:ext cx="57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Calibri"/>
              </a:rPr>
              <a:t>@PSICO_EDUCA20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1260000"/>
            <a:ext cx="57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1">
                <a:solidFill>
                  <a:srgbClr val="F5F0DC"/>
                </a:solidFill>
                <a:latin typeface="Georgia"/>
              </a:rPr>
              <a:t>Gracias por
su Atención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4140000"/>
            <a:ext cx="57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A9FE0"/>
                </a:solidFill>
                <a:latin typeface="Calibri"/>
              </a:rPr>
              <a:t>Bases filosóficas del Análisis de la Conducta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4968000"/>
            <a:ext cx="57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5F0DC"/>
                </a:solidFill>
                <a:latin typeface="Calibri"/>
              </a:rPr>
              <a:t>Lic. Jean Clemotte  |  PsicoEduca</a:t>
            </a:r>
          </a:p>
        </p:txBody>
      </p:sp>
      <p:pic>
        <p:nvPicPr>
          <p:cNvPr id="10" name="Picture 9" descr="oscuro sin fon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